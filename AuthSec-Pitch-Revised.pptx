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f421d9dcfe4f95" /><Relationship Type="http://schemas.openxmlformats.org/officeDocument/2006/relationships/extended-properties" Target="/docProps/app.xml" Id="Rfba2174aed664817" /><Relationship Type="http://schemas.openxmlformats.org/officeDocument/2006/relationships/officeDocument" Target="/ppt/presentation.xml" Id="R1f6032e05aeb4594" /></Relationships>
</file>

<file path=ppt/presentation.xml><?xml version="1.0" encoding="utf-8"?>
<p:presentation xmlns:p="http://schemas.openxmlformats.org/presentationml/2006/main">
  <p:sldMasterIdLst>
    <p:sldMasterId xmlns:r="http://schemas.openxmlformats.org/officeDocument/2006/relationships" id="2147483648" r:id="Ra3e194bded564633"/>
  </p:sldMasterIdLst>
  <p:notesMasterIdLst>
    <p:notesMasterId xmlns:r="http://schemas.openxmlformats.org/officeDocument/2006/relationships" r:id="R65acb10508544ed8"/>
  </p:notesMasterIdLst>
  <p:sldIdLst>
    <p:sldId xmlns:r="http://schemas.openxmlformats.org/officeDocument/2006/relationships" id="256" r:id="Raf04ac6a7a404213"/>
    <p:sldId xmlns:r="http://schemas.openxmlformats.org/officeDocument/2006/relationships" id="257" r:id="Rf230134942dd4dde"/>
    <p:sldId xmlns:r="http://schemas.openxmlformats.org/officeDocument/2006/relationships" id="258" r:id="R2d76db1a548344d2"/>
    <p:sldId xmlns:r="http://schemas.openxmlformats.org/officeDocument/2006/relationships" id="259" r:id="Rc417f9f3467142b3"/>
    <p:sldId xmlns:r="http://schemas.openxmlformats.org/officeDocument/2006/relationships" id="260" r:id="R012a1c2d8fc14345"/>
    <p:sldId xmlns:r="http://schemas.openxmlformats.org/officeDocument/2006/relationships" id="261" r:id="Rfc54877ae6434acb"/>
    <p:sldId xmlns:r="http://schemas.openxmlformats.org/officeDocument/2006/relationships" id="262" r:id="Rd8ff122670ed4cb6"/>
    <p:sldId xmlns:r="http://schemas.openxmlformats.org/officeDocument/2006/relationships" id="263" r:id="R51fa1efd33a14b3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81e710521cc40c5" /><Relationship Type="http://schemas.openxmlformats.org/officeDocument/2006/relationships/slideMaster" Target="/ppt/slideMasters/slideMaster1.xml" Id="Ra3e194bded564633" /><Relationship Type="http://schemas.openxmlformats.org/officeDocument/2006/relationships/notesMaster" Target="/ppt/notesMasters/notesMaster1.xml" Id="R65acb10508544ed8" /><Relationship Type="http://schemas.openxmlformats.org/officeDocument/2006/relationships/presProps" Target="/ppt/presProps.xml" Id="R4f006bad5b854796" /><Relationship Type="http://schemas.openxmlformats.org/officeDocument/2006/relationships/viewProps" Target="/ppt/viewProps.xml" Id="R27b0500ba6554f31" /><Relationship Type="http://schemas.openxmlformats.org/officeDocument/2006/relationships/tableStyles" Target="/ppt/tableStyles.xml" Id="R89ece6fd50534db7" /><Relationship Type="http://schemas.openxmlformats.org/officeDocument/2006/relationships/slide" Target="/ppt/slides/slide1.xml" Id="Raf04ac6a7a404213" /><Relationship Type="http://schemas.openxmlformats.org/officeDocument/2006/relationships/slide" Target="/ppt/slides/slide2.xml" Id="Rf230134942dd4dde" /><Relationship Type="http://schemas.openxmlformats.org/officeDocument/2006/relationships/slide" Target="/ppt/slides/slide3.xml" Id="R2d76db1a548344d2" /><Relationship Type="http://schemas.openxmlformats.org/officeDocument/2006/relationships/slide" Target="/ppt/slides/slide4.xml" Id="Rc417f9f3467142b3" /><Relationship Type="http://schemas.openxmlformats.org/officeDocument/2006/relationships/slide" Target="/ppt/slides/slide5.xml" Id="R012a1c2d8fc14345" /><Relationship Type="http://schemas.openxmlformats.org/officeDocument/2006/relationships/slide" Target="/ppt/slides/slide6.xml" Id="Rfc54877ae6434acb" /><Relationship Type="http://schemas.openxmlformats.org/officeDocument/2006/relationships/slide" Target="/ppt/slides/slide7.xml" Id="Rd8ff122670ed4cb6" /><Relationship Type="http://schemas.openxmlformats.org/officeDocument/2006/relationships/slide" Target="/ppt/slides/slide8.xml" Id="R51fa1efd33a1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2591f21c2d4e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0568fe781c4b3c" /><Relationship Type="http://schemas.openxmlformats.org/officeDocument/2006/relationships/notesMaster" Target="/ppt/notesMasters/notesMaster1.xml" Id="R94f66aba51874b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1561cbd361458d" /><Relationship Type="http://schemas.openxmlformats.org/officeDocument/2006/relationships/notesMaster" Target="/ppt/notesMasters/notesMaster1.xml" Id="R7924b549697a4a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bc9e01d0304558" /><Relationship Type="http://schemas.openxmlformats.org/officeDocument/2006/relationships/notesMaster" Target="/ppt/notesMasters/notesMaster1.xml" Id="R0a7fa475dcbc4f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df047cfc514413" /><Relationship Type="http://schemas.openxmlformats.org/officeDocument/2006/relationships/notesMaster" Target="/ppt/notesMasters/notesMaster1.xml" Id="R5f24e73e89a644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f2c7fb06b74259" /><Relationship Type="http://schemas.openxmlformats.org/officeDocument/2006/relationships/notesMaster" Target="/ppt/notesMasters/notesMaster1.xml" Id="R14a2eda182ce4e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fd8713c074b83" /><Relationship Type="http://schemas.openxmlformats.org/officeDocument/2006/relationships/notesMaster" Target="/ppt/notesMasters/notesMaster1.xml" Id="R14118dede5d54a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7ba16e3fe8404c" /><Relationship Type="http://schemas.openxmlformats.org/officeDocument/2006/relationships/notesMaster" Target="/ppt/notesMasters/notesMaster1.xml" Id="Rf7dcf89507884b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d8596278e744a9" /><Relationship Type="http://schemas.openxmlformats.org/officeDocument/2006/relationships/notesMaster" Target="/ppt/notesMasters/notesMaster1.xml" Id="R6575db687e8449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already know CIAM. The shift is that machines, workloads, and agents now call protected resources directly. AuthSec gives each one an identity and makes authorization live at the MCP tool boundary. I’ll show the identity paths, then revoke a live grant.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static key is not a governable principal. It cannot distinguish user, agent, or workload, express per-tool least privilege, preserve delegation, or respond to policy changes without credential rotation.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caller enters through its native trust path—OIDC/OAuth, private-key JWT, SPIFFE, or delegated exchange. AuthSec produces the same resource-bound token and the MCP boundary resolves live policy on every tool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is principal × role × tool scope × live grant. Missing scope removes the tool and fails closed. Pull the grant and the next request fails before token expiry.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token is the delegation proof: sub is Alice, act is the repo assistant, aud binds it to this MCP resource, scope limits the tools, and jti is the live revocation handle. ID-JAG remains an active draft; this is the AuthSec XAA profile built around that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 remains cryptographically valid after the role is revoked. Because the resource re-checks the live grant on every call, the next request is denied. Authorization beats token lifetime.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authentication proof changes by principal: OIDC for the user, private_key_jwt for the machine, SPIFFE JWT-SVID for the workload, and RFC 8693 plus ID-JAG for the delegated agent. The resource policy does not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 show four checks on one protected MCP server: machine identity, workload identity, subject-plus-actor delegation, and live revocation. Then the question is where this control plane fits in your customer identity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41768bbaca4ef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659ab2265b42ac" /><Relationship Type="http://schemas.openxmlformats.org/officeDocument/2006/relationships/slideLayout" Target="/ppt/slideLayouts/slideLayout1.xml" Id="R049ee08b4e9a476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9ee08b4e9a476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be38862c3c459c" /><Relationship Type="http://schemas.openxmlformats.org/officeDocument/2006/relationships/image" Target="/ppt/media/image.png" Id="Raed475b05d104a0e" /><Relationship Type="http://schemas.openxmlformats.org/officeDocument/2006/relationships/notesSlide" Target="/ppt/notesSlides/notesSlide1.xml" Id="R46d2d11cc4bf48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dd943790ac4ab2" /><Relationship Type="http://schemas.openxmlformats.org/officeDocument/2006/relationships/image" Target="/ppt/media/image2.png" Id="R7ab144d82afa41ed" /><Relationship Type="http://schemas.openxmlformats.org/officeDocument/2006/relationships/image" Target="/ppt/media/image3.png" Id="Red89c7b7f66b4b6e" /><Relationship Type="http://schemas.openxmlformats.org/officeDocument/2006/relationships/image" Target="/ppt/media/image4.png" Id="Rc9433ac0eb1e41a5" /><Relationship Type="http://schemas.openxmlformats.org/officeDocument/2006/relationships/image" Target="/ppt/media/image5.png" Id="R48b2849006bc4471" /><Relationship Type="http://schemas.openxmlformats.org/officeDocument/2006/relationships/image" Target="/ppt/media/image6.png" Id="Rc71a1f8946fa4cf9" /><Relationship Type="http://schemas.openxmlformats.org/officeDocument/2006/relationships/image" Target="/ppt/media/image7.png" Id="R7bb655cac80a47fe" /><Relationship Type="http://schemas.openxmlformats.org/officeDocument/2006/relationships/notesSlide" Target="/ppt/notesSlides/notesSlide2.xml" Id="Rea95f0a3c0ce4f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31df1f7090489c" /><Relationship Type="http://schemas.openxmlformats.org/officeDocument/2006/relationships/image" Target="/ppt/media/image8.png" Id="Rfcd173e9c42d40a5" /><Relationship Type="http://schemas.openxmlformats.org/officeDocument/2006/relationships/image" Target="/ppt/media/image9.png" Id="R2660cb13e57a4695" /><Relationship Type="http://schemas.openxmlformats.org/officeDocument/2006/relationships/image" Target="/ppt/media/image10.png" Id="R36c4360698934e5d" /><Relationship Type="http://schemas.openxmlformats.org/officeDocument/2006/relationships/image" Target="/ppt/media/image11.png" Id="Rb425e3be7e1f4411" /><Relationship Type="http://schemas.openxmlformats.org/officeDocument/2006/relationships/image" Target="/ppt/media/image12.png" Id="R35af2a13b1db421d" /><Relationship Type="http://schemas.openxmlformats.org/officeDocument/2006/relationships/image" Target="/ppt/media/image13.png" Id="R4e6ad6711b1b4768" /><Relationship Type="http://schemas.openxmlformats.org/officeDocument/2006/relationships/notesSlide" Target="/ppt/notesSlides/notesSlide3.xml" Id="Rb14c6e12b3e34e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342a40632442ed" /><Relationship Type="http://schemas.openxmlformats.org/officeDocument/2006/relationships/image" Target="/ppt/media/image14.png" Id="Rddd8f894649d4241" /><Relationship Type="http://schemas.openxmlformats.org/officeDocument/2006/relationships/image" Target="/ppt/media/image15.png" Id="R8a6421ddd51b4df8" /><Relationship Type="http://schemas.openxmlformats.org/officeDocument/2006/relationships/image" Target="/ppt/media/image16.png" Id="R7674634602d44093" /><Relationship Type="http://schemas.openxmlformats.org/officeDocument/2006/relationships/notesSlide" Target="/ppt/notesSlides/notesSlide4.xml" Id="Rc73225ec14c543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a54dd8604b4578" /><Relationship Type="http://schemas.openxmlformats.org/officeDocument/2006/relationships/notesSlide" Target="/ppt/notesSlides/notesSlide5.xml" Id="R7e2eab32b6074d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d6bb92eb334e09" /><Relationship Type="http://schemas.openxmlformats.org/officeDocument/2006/relationships/image" Target="/ppt/media/image17.png" Id="Rfaa47e9ac92e4d81" /><Relationship Type="http://schemas.openxmlformats.org/officeDocument/2006/relationships/image" Target="/ppt/media/image18.png" Id="R35d6fce42c9344ca" /><Relationship Type="http://schemas.openxmlformats.org/officeDocument/2006/relationships/notesSlide" Target="/ppt/notesSlides/notesSlide6.xml" Id="R097cdfbea55d46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bf3176bcb241a1" /><Relationship Type="http://schemas.openxmlformats.org/officeDocument/2006/relationships/image" Target="/ppt/media/image19.png" Id="Ra16d06e660c04919" /><Relationship Type="http://schemas.openxmlformats.org/officeDocument/2006/relationships/image" Target="/ppt/media/image20.png" Id="R1f40bd572eea4152" /><Relationship Type="http://schemas.openxmlformats.org/officeDocument/2006/relationships/image" Target="/ppt/media/image21.png" Id="R09e3b6111b9a4140" /><Relationship Type="http://schemas.openxmlformats.org/officeDocument/2006/relationships/image" Target="/ppt/media/image22.png" Id="R1279784afe004396" /><Relationship Type="http://schemas.openxmlformats.org/officeDocument/2006/relationships/notesSlide" Target="/ppt/notesSlides/notesSlide7.xml" Id="Rf6fda832e5c44c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b4773886944ca6" /><Relationship Type="http://schemas.openxmlformats.org/officeDocument/2006/relationships/notesSlide" Target="/ppt/notesSlides/notesSlide8.xml" Id="Rac90ffc13bac453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063BB8-2E9F-4B5C-96A9-49C9B246118C}"/>
              </a:ext>
            </a:extLst>
          </p:cNvPr>
          <p:cNvSpPr>
            <a:spLocks xmlns:a="http://schemas.openxmlformats.org/drawingml/2006/main" noGrp="1"/>
          </p:cNvSpPr>
          <p:nvPr/>
        </p:nvSpPr>
        <p:spPr>
          <a:xfrm xmlns:a="http://schemas.openxmlformats.org/drawingml/2006/main">
            <a:off x="8366760" y="1417320"/>
            <a:ext cx="3017520" cy="4023360"/>
          </a:xfrm>
          <a:prstGeom xmlns:a="http://schemas.openxmlformats.org/drawingml/2006/main" prst="roundRect">
            <a:avLst>
              <a:gd name="adj" fmla="val 9091"/>
            </a:avLst>
          </a:prstGeom>
          <a:solidFill xmlns:a="http://schemas.openxmlformats.org/drawingml/2006/main">
            <a:srgbClr val="E9F6F4"/>
          </a:solidFill>
        </p:spPr>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aed475b05d104a0e"/>
          <a:stretch xmlns:a="http://schemas.openxmlformats.org/drawingml/2006/main">
            <a:fillRect l="0" t="0" r="0" b="0"/>
          </a:stretch>
        </p:blipFill>
        <p:spPr>
          <a:xfrm xmlns:a="http://schemas.openxmlformats.org/drawingml/2006/main">
            <a:off x="9281160" y="2514600"/>
            <a:ext cx="1188720" cy="118872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17CF342-CA0F-4D82-BEFF-AB5481260499}"/>
              </a:ext>
            </a:extLst>
          </p:cNvPr>
          <p:cNvSpPr>
            <a:spLocks xmlns:a="http://schemas.openxmlformats.org/drawingml/2006/main" noGrp="1"/>
          </p:cNvSpPr>
          <p:nvPr/>
        </p:nvSpPr>
        <p:spPr>
          <a:xfrm xmlns:a="http://schemas.openxmlformats.org/drawingml/2006/main">
            <a:off x="777240" y="1051560"/>
            <a:ext cx="7315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8C7F"/>
                </a:solidFill>
                <a:latin typeface="Calibri"/>
                <a:ea typeface="Calibri"/>
                <a:cs typeface="Calibri"/>
              </a:rPr>
              <a:t>AUTHSEC  ·  IDENTITY FOR AGENTS AND MACHINES</a:t>
            </a:r>
          </a:p>
        </p:txBody>
      </p:sp>
      <p:sp>
        <p:nvSpPr>
          <p:cNvPr id="5" name="Text 2">
            <a:extLst xmlns:a="http://schemas.openxmlformats.org/drawingml/2006/main">
              <a:ext uri="{FF2B5EF4-FFF2-40B4-BE49-F238E27FC236}">
                <a16:creationId xmlns:a16="http://schemas.microsoft.com/office/drawing/2014/main" id="{F435B6E1-3FE0-4482-92F2-CEB476C7B2F9}"/>
              </a:ext>
            </a:extLst>
          </p:cNvPr>
          <p:cNvSpPr>
            <a:spLocks xmlns:a="http://schemas.openxmlformats.org/drawingml/2006/main" noGrp="1"/>
          </p:cNvSpPr>
          <p:nvPr/>
        </p:nvSpPr>
        <p:spPr>
          <a:xfrm xmlns:a="http://schemas.openxmlformats.org/drawingml/2006/main">
            <a:off x="777240" y="2286000"/>
            <a:ext cx="72237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4000" b="1">
                <a:solidFill>
                  <a:srgbClr val="16233B"/>
                </a:solidFill>
                <a:latin typeface="Calibri"/>
                <a:ea typeface="Calibri"/>
                <a:cs typeface="Calibri"/>
              </a:rPr>
              <a:t>Customer identity now includes</a:t>
            </a:r>
          </a:p>
          <a:p xmlns:a="http://schemas.openxmlformats.org/drawingml/2006/main">
            <a:pPr marL="0" indent="0">
              <a:lnSpc>
                <a:spcPct val="104000"/>
              </a:lnSpc>
              <a:buNone/>
            </a:pPr>
            <a:r>
              <a:rPr sz="4000" b="1">
                <a:solidFill>
                  <a:srgbClr val="16233B"/>
                </a:solidFill>
                <a:latin typeface="Calibri"/>
                <a:ea typeface="Calibri"/>
                <a:cs typeface="Calibri"/>
              </a:rPr>
              <a:t>machines and AI agents.</a:t>
            </a:r>
          </a:p>
        </p:txBody>
      </p:sp>
      <p:sp>
        <p:nvSpPr>
          <p:cNvPr id="6" name="Text 3">
            <a:extLst xmlns:a="http://schemas.openxmlformats.org/drawingml/2006/main">
              <a:ext uri="{FF2B5EF4-FFF2-40B4-BE49-F238E27FC236}">
                <a16:creationId xmlns:a16="http://schemas.microsoft.com/office/drawing/2014/main" id="{10F4ADCD-2069-4DD3-AA61-0CA1E25FA56F}"/>
              </a:ext>
            </a:extLst>
          </p:cNvPr>
          <p:cNvSpPr>
            <a:spLocks xmlns:a="http://schemas.openxmlformats.org/drawingml/2006/main" noGrp="1"/>
          </p:cNvSpPr>
          <p:nvPr/>
        </p:nvSpPr>
        <p:spPr>
          <a:xfrm xmlns:a="http://schemas.openxmlformats.org/drawingml/2006/main">
            <a:off x="777240" y="4434840"/>
            <a:ext cx="67665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650">
                <a:solidFill>
                  <a:srgbClr val="45566E"/>
                </a:solidFill>
                <a:latin typeface="Calibri"/>
                <a:ea typeface="Calibri"/>
                <a:cs typeface="Calibri"/>
              </a:rPr>
              <a:t>AuthSec gives each non-human caller a first-class identity and makes every MCP tool call a live authorization decision.</a:t>
            </a:r>
          </a:p>
        </p:txBody>
      </p:sp>
      <p:sp>
        <p:nvSpPr>
          <p:cNvPr id="7" name="Text 4">
            <a:extLst xmlns:a="http://schemas.openxmlformats.org/drawingml/2006/main">
              <a:ext uri="{FF2B5EF4-FFF2-40B4-BE49-F238E27FC236}">
                <a16:creationId xmlns:a16="http://schemas.microsoft.com/office/drawing/2014/main" id="{5DBB1457-E0ED-4195-BE66-F04DECD4A018}"/>
              </a:ext>
            </a:extLst>
          </p:cNvPr>
          <p:cNvSpPr>
            <a:spLocks xmlns:a="http://schemas.openxmlformats.org/drawingml/2006/main" noGrp="1"/>
          </p:cNvSpPr>
          <p:nvPr/>
        </p:nvSpPr>
        <p:spPr>
          <a:xfrm xmlns:a="http://schemas.openxmlformats.org/drawingml/2006/main">
            <a:off x="777240" y="612648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8493A6"/>
                </a:solidFill>
                <a:latin typeface="Calibri"/>
                <a:ea typeface="Calibri"/>
                <a:cs typeface="Calibri"/>
              </a:rPr>
              <a:t>OAuth 2.1 / OIDC · workload identity · delegated agents</a:t>
            </a:r>
          </a:p>
        </p:txBody>
      </p:sp>
    </p:spTree>
    <p:extLst>
      <p:ext uri="{BB962C8B-B14F-4D97-AF65-F5344CB8AC3E}">
        <p14:creationId xmlns:p14="http://schemas.microsoft.com/office/powerpoint/2010/main" val="18524510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F9FF8D-8A22-4FC9-B5B9-46A21EC4FA6A}"/>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THE CATEGORY SHIFT</a:t>
            </a:r>
          </a:p>
        </p:txBody>
      </p:sp>
      <p:sp>
        <p:nvSpPr>
          <p:cNvPr id="3" name="Text 1">
            <a:extLst xmlns:a="http://schemas.openxmlformats.org/drawingml/2006/main">
              <a:ext uri="{FF2B5EF4-FFF2-40B4-BE49-F238E27FC236}">
                <a16:creationId xmlns:a16="http://schemas.microsoft.com/office/drawing/2014/main" id="{F67F4896-3A9D-4928-B782-AAAB4979FEB8}"/>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A key is not an identity</a:t>
            </a:r>
          </a:p>
        </p:txBody>
      </p:sp>
      <p:sp>
        <p:nvSpPr>
          <p:cNvPr id="4" name="Shape 2">
            <a:extLst xmlns:a="http://schemas.openxmlformats.org/drawingml/2006/main">
              <a:ext uri="{FF2B5EF4-FFF2-40B4-BE49-F238E27FC236}">
                <a16:creationId xmlns:a16="http://schemas.microsoft.com/office/drawing/2014/main" id="{31E73AA5-4F55-4140-842F-DC5FE90E011D}"/>
              </a:ext>
            </a:extLst>
          </p:cNvPr>
          <p:cNvSpPr>
            <a:spLocks xmlns:a="http://schemas.openxmlformats.org/drawingml/2006/main" noGrp="1"/>
          </p:cNvSpPr>
          <p:nvPr/>
        </p:nvSpPr>
        <p:spPr>
          <a:xfrm xmlns:a="http://schemas.openxmlformats.org/drawingml/2006/main">
            <a:off x="777240" y="1691640"/>
            <a:ext cx="1508760" cy="105156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5" name="Text 3">
            <a:extLst xmlns:a="http://schemas.openxmlformats.org/drawingml/2006/main">
              <a:ext uri="{FF2B5EF4-FFF2-40B4-BE49-F238E27FC236}">
                <a16:creationId xmlns:a16="http://schemas.microsoft.com/office/drawing/2014/main" id="{10407E2D-B948-4112-B464-3F7E7283BA45}"/>
              </a:ext>
            </a:extLst>
          </p:cNvPr>
          <p:cNvSpPr>
            <a:spLocks xmlns:a="http://schemas.openxmlformats.org/drawingml/2006/main" noGrp="1"/>
          </p:cNvSpPr>
          <p:nvPr/>
        </p:nvSpPr>
        <p:spPr>
          <a:xfrm xmlns:a="http://schemas.openxmlformats.org/drawingml/2006/main">
            <a:off x="777240" y="1947672"/>
            <a:ext cx="1508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User’s app</a:t>
            </a:r>
          </a:p>
        </p:txBody>
      </p:sp>
      <p:sp>
        <p:nvSpPr>
          <p:cNvPr id="6" name="Text 4">
            <a:extLst xmlns:a="http://schemas.openxmlformats.org/drawingml/2006/main">
              <a:ext uri="{FF2B5EF4-FFF2-40B4-BE49-F238E27FC236}">
                <a16:creationId xmlns:a16="http://schemas.microsoft.com/office/drawing/2014/main" id="{14BB2BD1-226F-46EC-AE82-FDBCC00429A3}"/>
              </a:ext>
            </a:extLst>
          </p:cNvPr>
          <p:cNvSpPr>
            <a:spLocks xmlns:a="http://schemas.openxmlformats.org/drawingml/2006/main" noGrp="1"/>
          </p:cNvSpPr>
          <p:nvPr/>
        </p:nvSpPr>
        <p:spPr>
          <a:xfrm xmlns:a="http://schemas.openxmlformats.org/drawingml/2006/main">
            <a:off x="777240" y="2295144"/>
            <a:ext cx="1508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493A6"/>
                </a:solidFill>
                <a:latin typeface="Calibri"/>
                <a:ea typeface="Calibri"/>
                <a:cs typeface="Calibri"/>
              </a:rPr>
              <a:t>human origin</a:t>
            </a:r>
          </a:p>
        </p:txBody>
      </p:sp>
      <p:sp>
        <p:nvSpPr>
          <p:cNvPr id="7" name="Shape 5">
            <a:extLst xmlns:a="http://schemas.openxmlformats.org/drawingml/2006/main">
              <a:ext uri="{FF2B5EF4-FFF2-40B4-BE49-F238E27FC236}">
                <a16:creationId xmlns:a16="http://schemas.microsoft.com/office/drawing/2014/main" id="{14790131-6C97-4E32-ADC4-490D40124B86}"/>
              </a:ext>
            </a:extLst>
          </p:cNvPr>
          <p:cNvSpPr>
            <a:spLocks xmlns:a="http://schemas.openxmlformats.org/drawingml/2006/main" noGrp="1"/>
          </p:cNvSpPr>
          <p:nvPr/>
        </p:nvSpPr>
        <p:spPr>
          <a:xfrm xmlns:a="http://schemas.openxmlformats.org/drawingml/2006/main">
            <a:off x="2697480" y="1691640"/>
            <a:ext cx="1920240" cy="105156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8" name="Text 6">
            <a:extLst xmlns:a="http://schemas.openxmlformats.org/drawingml/2006/main">
              <a:ext uri="{FF2B5EF4-FFF2-40B4-BE49-F238E27FC236}">
                <a16:creationId xmlns:a16="http://schemas.microsoft.com/office/drawing/2014/main" id="{2468FA2E-F3F0-4C1C-A060-CD4EAD1B91D4}"/>
              </a:ext>
            </a:extLst>
          </p:cNvPr>
          <p:cNvSpPr>
            <a:spLocks xmlns:a="http://schemas.openxmlformats.org/drawingml/2006/main" noGrp="1"/>
          </p:cNvSpPr>
          <p:nvPr/>
        </p:nvSpPr>
        <p:spPr>
          <a:xfrm xmlns:a="http://schemas.openxmlformats.org/drawingml/2006/main">
            <a:off x="2697480" y="2057400"/>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AI agent</a:t>
            </a:r>
          </a:p>
        </p:txBody>
      </p:sp>
      <p:sp>
        <p:nvSpPr>
          <p:cNvPr id="9" name="Shape 7">
            <a:extLst xmlns:a="http://schemas.openxmlformats.org/drawingml/2006/main">
              <a:ext uri="{FF2B5EF4-FFF2-40B4-BE49-F238E27FC236}">
                <a16:creationId xmlns:a16="http://schemas.microsoft.com/office/drawing/2014/main" id="{8327B68C-2732-474A-89BB-1D818C3017A8}"/>
              </a:ext>
            </a:extLst>
          </p:cNvPr>
          <p:cNvSpPr>
            <a:spLocks xmlns:a="http://schemas.openxmlformats.org/drawingml/2006/main" noGrp="1"/>
          </p:cNvSpPr>
          <p:nvPr/>
        </p:nvSpPr>
        <p:spPr>
          <a:xfrm xmlns:a="http://schemas.openxmlformats.org/drawingml/2006/main">
            <a:off x="6720840" y="1691640"/>
            <a:ext cx="2286000" cy="105156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0" name="Text 8">
            <a:extLst xmlns:a="http://schemas.openxmlformats.org/drawingml/2006/main">
              <a:ext uri="{FF2B5EF4-FFF2-40B4-BE49-F238E27FC236}">
                <a16:creationId xmlns:a16="http://schemas.microsoft.com/office/drawing/2014/main" id="{D9AEA2D9-5606-4EB1-8D9E-209CAB3D4AEB}"/>
              </a:ext>
            </a:extLst>
          </p:cNvPr>
          <p:cNvSpPr>
            <a:spLocks xmlns:a="http://schemas.openxmlformats.org/drawingml/2006/main" noGrp="1"/>
          </p:cNvSpPr>
          <p:nvPr/>
        </p:nvSpPr>
        <p:spPr>
          <a:xfrm xmlns:a="http://schemas.openxmlformats.org/drawingml/2006/main">
            <a:off x="6720840" y="1947672"/>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MCP server</a:t>
            </a:r>
          </a:p>
        </p:txBody>
      </p:sp>
      <p:sp>
        <p:nvSpPr>
          <p:cNvPr id="11" name="Text 9">
            <a:extLst xmlns:a="http://schemas.openxmlformats.org/drawingml/2006/main">
              <a:ext uri="{FF2B5EF4-FFF2-40B4-BE49-F238E27FC236}">
                <a16:creationId xmlns:a16="http://schemas.microsoft.com/office/drawing/2014/main" id="{C82047C9-EAE9-4186-B99B-EF283E174CFE}"/>
              </a:ext>
            </a:extLst>
          </p:cNvPr>
          <p:cNvSpPr>
            <a:spLocks xmlns:a="http://schemas.openxmlformats.org/drawingml/2006/main" noGrp="1"/>
          </p:cNvSpPr>
          <p:nvPr/>
        </p:nvSpPr>
        <p:spPr>
          <a:xfrm xmlns:a="http://schemas.openxmlformats.org/drawingml/2006/main">
            <a:off x="6720840" y="2295144"/>
            <a:ext cx="2286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493A6"/>
                </a:solidFill>
                <a:latin typeface="Calibri"/>
                <a:ea typeface="Calibri"/>
                <a:cs typeface="Calibri"/>
              </a:rPr>
              <a:t>all tools open</a:t>
            </a:r>
          </a:p>
        </p:txBody>
      </p:sp>
      <p:sp>
        <p:nvSpPr>
          <p:cNvPr id="12" name="Shape 10">
            <a:extLst xmlns:a="http://schemas.openxmlformats.org/drawingml/2006/main">
              <a:ext uri="{FF2B5EF4-FFF2-40B4-BE49-F238E27FC236}">
                <a16:creationId xmlns:a16="http://schemas.microsoft.com/office/drawing/2014/main" id="{F1214B9F-1F0D-4DCF-A523-4FD75C5B2018}"/>
              </a:ext>
            </a:extLst>
          </p:cNvPr>
          <p:cNvSpPr>
            <a:spLocks xmlns:a="http://schemas.openxmlformats.org/drawingml/2006/main" noGrp="1"/>
          </p:cNvSpPr>
          <p:nvPr/>
        </p:nvSpPr>
        <p:spPr>
          <a:xfrm xmlns:a="http://schemas.openxmlformats.org/drawingml/2006/main">
            <a:off x="9418320" y="1691640"/>
            <a:ext cx="1993392" cy="105156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3" name="Text 11">
            <a:extLst xmlns:a="http://schemas.openxmlformats.org/drawingml/2006/main">
              <a:ext uri="{FF2B5EF4-FFF2-40B4-BE49-F238E27FC236}">
                <a16:creationId xmlns:a16="http://schemas.microsoft.com/office/drawing/2014/main" id="{9CC469F0-D6A9-4061-8F34-CA331A8F3477}"/>
              </a:ext>
            </a:extLst>
          </p:cNvPr>
          <p:cNvSpPr>
            <a:spLocks xmlns:a="http://schemas.openxmlformats.org/drawingml/2006/main" noGrp="1"/>
          </p:cNvSpPr>
          <p:nvPr/>
        </p:nvSpPr>
        <p:spPr>
          <a:xfrm xmlns:a="http://schemas.openxmlformats.org/drawingml/2006/main">
            <a:off x="9418320" y="1947672"/>
            <a:ext cx="199339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Resources</a:t>
            </a:r>
          </a:p>
        </p:txBody>
      </p:sp>
      <p:sp>
        <p:nvSpPr>
          <p:cNvPr id="14" name="Text 12">
            <a:extLst xmlns:a="http://schemas.openxmlformats.org/drawingml/2006/main">
              <a:ext uri="{FF2B5EF4-FFF2-40B4-BE49-F238E27FC236}">
                <a16:creationId xmlns:a16="http://schemas.microsoft.com/office/drawing/2014/main" id="{49B072DA-F484-4C5B-8C38-CFF9E48A807B}"/>
              </a:ext>
            </a:extLst>
          </p:cNvPr>
          <p:cNvSpPr>
            <a:spLocks xmlns:a="http://schemas.openxmlformats.org/drawingml/2006/main" noGrp="1"/>
          </p:cNvSpPr>
          <p:nvPr/>
        </p:nvSpPr>
        <p:spPr>
          <a:xfrm xmlns:a="http://schemas.openxmlformats.org/drawingml/2006/main">
            <a:off x="9418320" y="2295144"/>
            <a:ext cx="19933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493A6"/>
                </a:solidFill>
                <a:latin typeface="Calibri"/>
                <a:ea typeface="Calibri"/>
                <a:cs typeface="Calibri"/>
              </a:rPr>
              <a:t>GitHub · DB · SaaS</a:t>
            </a:r>
          </a:p>
        </p:txBody>
      </p:sp>
      <p:sp>
        <p:nvSpPr>
          <p:cNvPr id="15" name="Shape 13">
            <a:extLst xmlns:a="http://schemas.openxmlformats.org/drawingml/2006/main">
              <a:ext uri="{FF2B5EF4-FFF2-40B4-BE49-F238E27FC236}">
                <a16:creationId xmlns:a16="http://schemas.microsoft.com/office/drawing/2014/main" id="{F778C5B7-01DF-4504-9B27-093B597187F7}"/>
              </a:ext>
            </a:extLst>
          </p:cNvPr>
          <p:cNvSpPr>
            <a:spLocks xmlns:a="http://schemas.openxmlformats.org/drawingml/2006/main" noGrp="1"/>
          </p:cNvSpPr>
          <p:nvPr/>
        </p:nvSpPr>
        <p:spPr>
          <a:xfrm xmlns:a="http://schemas.openxmlformats.org/drawingml/2006/main">
            <a:off x="2395728" y="2217420"/>
            <a:ext cx="192024" cy="0"/>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16" name="Shape 14">
            <a:extLst xmlns:a="http://schemas.openxmlformats.org/drawingml/2006/main">
              <a:ext uri="{FF2B5EF4-FFF2-40B4-BE49-F238E27FC236}">
                <a16:creationId xmlns:a16="http://schemas.microsoft.com/office/drawing/2014/main" id="{A56E589B-946E-4ED3-B951-C7FFEC057F29}"/>
              </a:ext>
            </a:extLst>
          </p:cNvPr>
          <p:cNvSpPr>
            <a:spLocks xmlns:a="http://schemas.openxmlformats.org/drawingml/2006/main" noGrp="1"/>
          </p:cNvSpPr>
          <p:nvPr/>
        </p:nvSpPr>
        <p:spPr>
          <a:xfrm xmlns:a="http://schemas.openxmlformats.org/drawingml/2006/main">
            <a:off x="5074920" y="1979676"/>
            <a:ext cx="1234440" cy="475488"/>
          </a:xfrm>
          <a:prstGeom xmlns:a="http://schemas.openxmlformats.org/drawingml/2006/main" prst="roundRect">
            <a:avLst>
              <a:gd name="adj" fmla="val 50000"/>
            </a:avLst>
          </a:prstGeom>
          <a:solidFill xmlns:a="http://schemas.openxmlformats.org/drawingml/2006/main">
            <a:srgbClr val="D64550"/>
          </a:solidFill>
          <a:effectLst xmlns:a="http://schemas.openxmlformats.org/drawingml/2006/main">
            <a:outerShdw blurRad="127000" dist="38100" dir="5400000" sx="100000" sy="100000" kx="0" ky="0" algn="bl" rotWithShape="0">
              <a:srgbClr val="1B2A44">
                <a:alpha val="10000"/>
              </a:srgbClr>
            </a:outerShdw>
          </a:effectLst>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7ab144d82afa41ed"/>
          <a:stretch xmlns:a="http://schemas.openxmlformats.org/drawingml/2006/main">
            <a:fillRect l="0" t="0" r="0" b="0"/>
          </a:stretch>
        </p:blipFill>
        <p:spPr>
          <a:xfrm xmlns:a="http://schemas.openxmlformats.org/drawingml/2006/main">
            <a:off x="5239512" y="2080260"/>
            <a:ext cx="274320" cy="274320"/>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39D75DF7-2FE1-4DAE-B781-3C4F8C6F190F}"/>
              </a:ext>
            </a:extLst>
          </p:cNvPr>
          <p:cNvSpPr>
            <a:spLocks xmlns:a="http://schemas.openxmlformats.org/drawingml/2006/main" noGrp="1"/>
          </p:cNvSpPr>
          <p:nvPr/>
        </p:nvSpPr>
        <p:spPr>
          <a:xfrm xmlns:a="http://schemas.openxmlformats.org/drawingml/2006/main">
            <a:off x="5532120" y="2071116"/>
            <a:ext cx="7315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FFFFFF"/>
                </a:solidFill>
                <a:latin typeface="Calibri"/>
                <a:ea typeface="Calibri"/>
                <a:cs typeface="Calibri"/>
              </a:rPr>
              <a:t>static key</a:t>
            </a:r>
          </a:p>
        </p:txBody>
      </p:sp>
      <p:sp>
        <p:nvSpPr>
          <p:cNvPr id="19" name="Shape 16">
            <a:extLst xmlns:a="http://schemas.openxmlformats.org/drawingml/2006/main">
              <a:ext uri="{FF2B5EF4-FFF2-40B4-BE49-F238E27FC236}">
                <a16:creationId xmlns:a16="http://schemas.microsoft.com/office/drawing/2014/main" id="{47C95CD5-7D69-4B96-A45F-F3A4D7A744CC}"/>
              </a:ext>
            </a:extLst>
          </p:cNvPr>
          <p:cNvSpPr>
            <a:spLocks xmlns:a="http://schemas.openxmlformats.org/drawingml/2006/main" noGrp="1"/>
          </p:cNvSpPr>
          <p:nvPr/>
        </p:nvSpPr>
        <p:spPr>
          <a:xfrm xmlns:a="http://schemas.openxmlformats.org/drawingml/2006/main">
            <a:off x="4727448" y="2217420"/>
            <a:ext cx="301752" cy="0"/>
          </a:xfrm>
          <a:prstGeom xmlns:a="http://schemas.openxmlformats.org/drawingml/2006/main" prst="line">
            <a:avLst/>
          </a:prstGeom>
          <a:noFill xmlns:a="http://schemas.openxmlformats.org/drawingml/2006/main"/>
          <a:ln xmlns:a="http://schemas.openxmlformats.org/drawingml/2006/main" w="25400">
            <a:solidFill>
              <a:srgbClr val="D64550"/>
            </a:solidFill>
            <a:prstDash val="solid"/>
            <a:tailEnd type="triangle"/>
          </a:ln>
        </p:spPr>
      </p:sp>
      <p:sp>
        <p:nvSpPr>
          <p:cNvPr id="20" name="Shape 17">
            <a:extLst xmlns:a="http://schemas.openxmlformats.org/drawingml/2006/main">
              <a:ext uri="{FF2B5EF4-FFF2-40B4-BE49-F238E27FC236}">
                <a16:creationId xmlns:a16="http://schemas.microsoft.com/office/drawing/2014/main" id="{991D7B47-EEB0-4D58-95D0-35C04BF91C01}"/>
              </a:ext>
            </a:extLst>
          </p:cNvPr>
          <p:cNvSpPr>
            <a:spLocks xmlns:a="http://schemas.openxmlformats.org/drawingml/2006/main" noGrp="1"/>
          </p:cNvSpPr>
          <p:nvPr/>
        </p:nvSpPr>
        <p:spPr>
          <a:xfrm xmlns:a="http://schemas.openxmlformats.org/drawingml/2006/main">
            <a:off x="6355080" y="2217420"/>
            <a:ext cx="256032" cy="0"/>
          </a:xfrm>
          <a:prstGeom xmlns:a="http://schemas.openxmlformats.org/drawingml/2006/main" prst="line">
            <a:avLst/>
          </a:prstGeom>
          <a:noFill xmlns:a="http://schemas.openxmlformats.org/drawingml/2006/main"/>
          <a:ln xmlns:a="http://schemas.openxmlformats.org/drawingml/2006/main" w="25400">
            <a:solidFill>
              <a:srgbClr val="D64550"/>
            </a:solidFill>
            <a:prstDash val="solid"/>
            <a:tailEnd type="triangle"/>
          </a:ln>
        </p:spPr>
      </p:sp>
      <p:sp>
        <p:nvSpPr>
          <p:cNvPr id="21" name="Shape 18">
            <a:extLst xmlns:a="http://schemas.openxmlformats.org/drawingml/2006/main">
              <a:ext uri="{FF2B5EF4-FFF2-40B4-BE49-F238E27FC236}">
                <a16:creationId xmlns:a16="http://schemas.microsoft.com/office/drawing/2014/main" id="{89BE6F68-A75E-4CC4-91AC-B79E0A0A8EB2}"/>
              </a:ext>
            </a:extLst>
          </p:cNvPr>
          <p:cNvSpPr>
            <a:spLocks xmlns:a="http://schemas.openxmlformats.org/drawingml/2006/main" noGrp="1"/>
          </p:cNvSpPr>
          <p:nvPr/>
        </p:nvSpPr>
        <p:spPr>
          <a:xfrm xmlns:a="http://schemas.openxmlformats.org/drawingml/2006/main">
            <a:off x="9116568" y="2217420"/>
            <a:ext cx="192024" cy="0"/>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22" name="Text 19">
            <a:extLst xmlns:a="http://schemas.openxmlformats.org/drawingml/2006/main">
              <a:ext uri="{FF2B5EF4-FFF2-40B4-BE49-F238E27FC236}">
                <a16:creationId xmlns:a16="http://schemas.microsoft.com/office/drawing/2014/main" id="{71DD42BB-5098-4E43-B8A2-054449A6C160}"/>
              </a:ext>
            </a:extLst>
          </p:cNvPr>
          <p:cNvSpPr>
            <a:spLocks xmlns:a="http://schemas.openxmlformats.org/drawingml/2006/main" noGrp="1"/>
          </p:cNvSpPr>
          <p:nvPr/>
        </p:nvSpPr>
        <p:spPr>
          <a:xfrm xmlns:a="http://schemas.openxmlformats.org/drawingml/2006/main">
            <a:off x="777240" y="297180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8493A6"/>
                </a:solidFill>
                <a:latin typeface="Calibri"/>
                <a:ea typeface="Calibri"/>
                <a:cs typeface="Calibri"/>
              </a:rPr>
              <a:t>The resource sees a credential — not a governable principal.</a:t>
            </a:r>
          </a:p>
        </p:txBody>
      </p:sp>
      <p:sp>
        <p:nvSpPr>
          <p:cNvPr id="23" name="Shape 20">
            <a:extLst xmlns:a="http://schemas.openxmlformats.org/drawingml/2006/main">
              <a:ext uri="{FF2B5EF4-FFF2-40B4-BE49-F238E27FC236}">
                <a16:creationId xmlns:a16="http://schemas.microsoft.com/office/drawing/2014/main" id="{2C211F5A-0524-4D53-BA88-FB04B7695043}"/>
              </a:ext>
            </a:extLst>
          </p:cNvPr>
          <p:cNvSpPr>
            <a:spLocks xmlns:a="http://schemas.openxmlformats.org/drawingml/2006/main" noGrp="1"/>
          </p:cNvSpPr>
          <p:nvPr/>
        </p:nvSpPr>
        <p:spPr>
          <a:xfrm xmlns:a="http://schemas.openxmlformats.org/drawingml/2006/main">
            <a:off x="804672" y="3429000"/>
            <a:ext cx="384048" cy="384048"/>
          </a:xfrm>
          <a:prstGeom xmlns:a="http://schemas.openxmlformats.org/drawingml/2006/main" prst="ellipse">
            <a:avLst/>
          </a:prstGeom>
          <a:solidFill xmlns:a="http://schemas.openxmlformats.org/drawingml/2006/main">
            <a:srgbClr val="D64550"/>
          </a:solidFill>
        </p:spPr>
      </p:sp>
      <p:pic>
        <p:nvPicPr>
          <p:cNvPr id="66" name="Image 1"/>
          <p:cNvPicPr>
            <a:picLocks xmlns:a="http://schemas.openxmlformats.org/drawingml/2006/main" noChangeAspect="1"/>
          </p:cNvPicPr>
          <p:nvPr/>
        </p:nvPicPr>
        <p:blipFill>
          <a:blip xmlns:r="http://schemas.openxmlformats.org/officeDocument/2006/relationships" xmlns:a="http://schemas.openxmlformats.org/drawingml/2006/main" r:embed="Red89c7b7f66b4b6e"/>
          <a:stretch xmlns:a="http://schemas.openxmlformats.org/drawingml/2006/main">
            <a:fillRect l="0" t="0" r="0" b="0"/>
          </a:stretch>
        </p:blipFill>
        <p:spPr>
          <a:xfrm xmlns:a="http://schemas.openxmlformats.org/drawingml/2006/main">
            <a:off x="891083" y="3515411"/>
            <a:ext cx="211226" cy="21122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539D5B63-AB07-449D-9C77-469209BEC4B5}"/>
              </a:ext>
            </a:extLst>
          </p:cNvPr>
          <p:cNvSpPr>
            <a:spLocks xmlns:a="http://schemas.openxmlformats.org/drawingml/2006/main" noGrp="1"/>
          </p:cNvSpPr>
          <p:nvPr/>
        </p:nvSpPr>
        <p:spPr>
          <a:xfrm xmlns:a="http://schemas.openxmlformats.org/drawingml/2006/main">
            <a:off x="1399032" y="3374136"/>
            <a:ext cx="100154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6233B"/>
                </a:solidFill>
                <a:latin typeface="Calibri"/>
                <a:ea typeface="Calibri"/>
                <a:cs typeface="Calibri"/>
              </a:rPr>
              <a:t>No principal to govern  —  the caller presents a credential, not an identity you can name.</a:t>
            </a:r>
          </a:p>
        </p:txBody>
      </p:sp>
      <p:sp>
        <p:nvSpPr>
          <p:cNvPr id="26" name="Shape 22">
            <a:extLst xmlns:a="http://schemas.openxmlformats.org/drawingml/2006/main">
              <a:ext uri="{FF2B5EF4-FFF2-40B4-BE49-F238E27FC236}">
                <a16:creationId xmlns:a16="http://schemas.microsoft.com/office/drawing/2014/main" id="{5D7BD3B7-37BE-4029-8D3D-00F7F24EB4AD}"/>
              </a:ext>
            </a:extLst>
          </p:cNvPr>
          <p:cNvSpPr>
            <a:spLocks xmlns:a="http://schemas.openxmlformats.org/drawingml/2006/main" noGrp="1"/>
          </p:cNvSpPr>
          <p:nvPr/>
        </p:nvSpPr>
        <p:spPr>
          <a:xfrm xmlns:a="http://schemas.openxmlformats.org/drawingml/2006/main">
            <a:off x="804672" y="3995928"/>
            <a:ext cx="384048" cy="384048"/>
          </a:xfrm>
          <a:prstGeom xmlns:a="http://schemas.openxmlformats.org/drawingml/2006/main" prst="ellipse">
            <a:avLst/>
          </a:prstGeom>
          <a:solidFill xmlns:a="http://schemas.openxmlformats.org/drawingml/2006/main">
            <a:srgbClr val="D64550"/>
          </a:solidFill>
        </p:spPr>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c9433ac0eb1e41a5"/>
          <a:stretch xmlns:a="http://schemas.openxmlformats.org/drawingml/2006/main">
            <a:fillRect l="0" t="0" r="0" b="0"/>
          </a:stretch>
        </p:blipFill>
        <p:spPr>
          <a:xfrm xmlns:a="http://schemas.openxmlformats.org/drawingml/2006/main">
            <a:off x="891083" y="4082339"/>
            <a:ext cx="211226" cy="211226"/>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9711F768-EBB6-47DC-BF5D-0754B860F163}"/>
              </a:ext>
            </a:extLst>
          </p:cNvPr>
          <p:cNvSpPr>
            <a:spLocks xmlns:a="http://schemas.openxmlformats.org/drawingml/2006/main" noGrp="1"/>
          </p:cNvSpPr>
          <p:nvPr/>
        </p:nvSpPr>
        <p:spPr>
          <a:xfrm xmlns:a="http://schemas.openxmlformats.org/drawingml/2006/main">
            <a:off x="1399032" y="3941064"/>
            <a:ext cx="100154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6233B"/>
                </a:solidFill>
                <a:latin typeface="Calibri"/>
                <a:ea typeface="Calibri"/>
                <a:cs typeface="Calibri"/>
              </a:rPr>
              <a:t>No trust context  —  a shared bearer cannot distinguish user, agent, or workload.</a:t>
            </a:r>
          </a:p>
        </p:txBody>
      </p:sp>
      <p:sp>
        <p:nvSpPr>
          <p:cNvPr id="29" name="Shape 24">
            <a:extLst xmlns:a="http://schemas.openxmlformats.org/drawingml/2006/main">
              <a:ext uri="{FF2B5EF4-FFF2-40B4-BE49-F238E27FC236}">
                <a16:creationId xmlns:a16="http://schemas.microsoft.com/office/drawing/2014/main" id="{5564FD8F-7071-4F55-BC9D-7B3BBB369948}"/>
              </a:ext>
            </a:extLst>
          </p:cNvPr>
          <p:cNvSpPr>
            <a:spLocks xmlns:a="http://schemas.openxmlformats.org/drawingml/2006/main" noGrp="1"/>
          </p:cNvSpPr>
          <p:nvPr/>
        </p:nvSpPr>
        <p:spPr>
          <a:xfrm xmlns:a="http://schemas.openxmlformats.org/drawingml/2006/main">
            <a:off x="804672" y="4562856"/>
            <a:ext cx="384048" cy="384048"/>
          </a:xfrm>
          <a:prstGeom xmlns:a="http://schemas.openxmlformats.org/drawingml/2006/main" prst="ellipse">
            <a:avLst/>
          </a:prstGeom>
          <a:solidFill xmlns:a="http://schemas.openxmlformats.org/drawingml/2006/main">
            <a:srgbClr val="D64550"/>
          </a:solidFill>
        </p:spPr>
      </p:sp>
      <p:pic>
        <p:nvPicPr>
          <p:cNvPr id="72" name="Image 3"/>
          <p:cNvPicPr>
            <a:picLocks xmlns:a="http://schemas.openxmlformats.org/drawingml/2006/main" noChangeAspect="1"/>
          </p:cNvPicPr>
          <p:nvPr/>
        </p:nvPicPr>
        <p:blipFill>
          <a:blip xmlns:r="http://schemas.openxmlformats.org/officeDocument/2006/relationships" xmlns:a="http://schemas.openxmlformats.org/drawingml/2006/main" r:embed="R48b2849006bc4471"/>
          <a:stretch xmlns:a="http://schemas.openxmlformats.org/drawingml/2006/main">
            <a:fillRect l="0" t="0" r="0" b="0"/>
          </a:stretch>
        </p:blipFill>
        <p:spPr>
          <a:xfrm xmlns:a="http://schemas.openxmlformats.org/drawingml/2006/main">
            <a:off x="891083" y="4649267"/>
            <a:ext cx="211226" cy="211226"/>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13B978B5-3B37-4E8F-BA65-130DFDE30DCE}"/>
              </a:ext>
            </a:extLst>
          </p:cNvPr>
          <p:cNvSpPr>
            <a:spLocks xmlns:a="http://schemas.openxmlformats.org/drawingml/2006/main" noGrp="1"/>
          </p:cNvSpPr>
          <p:nvPr/>
        </p:nvSpPr>
        <p:spPr>
          <a:xfrm xmlns:a="http://schemas.openxmlformats.org/drawingml/2006/main">
            <a:off x="1399032" y="4507992"/>
            <a:ext cx="100154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6233B"/>
                </a:solidFill>
                <a:latin typeface="Calibri"/>
                <a:ea typeface="Calibri"/>
                <a:cs typeface="Calibri"/>
              </a:rPr>
              <a:t>No least privilege  —  one broad credential hides per-tool authorization.</a:t>
            </a:r>
          </a:p>
        </p:txBody>
      </p:sp>
      <p:sp>
        <p:nvSpPr>
          <p:cNvPr id="32" name="Shape 26">
            <a:extLst xmlns:a="http://schemas.openxmlformats.org/drawingml/2006/main">
              <a:ext uri="{FF2B5EF4-FFF2-40B4-BE49-F238E27FC236}">
                <a16:creationId xmlns:a16="http://schemas.microsoft.com/office/drawing/2014/main" id="{BD6CF5FB-C4B3-4D72-B570-115E44B33F71}"/>
              </a:ext>
            </a:extLst>
          </p:cNvPr>
          <p:cNvSpPr>
            <a:spLocks xmlns:a="http://schemas.openxmlformats.org/drawingml/2006/main" noGrp="1"/>
          </p:cNvSpPr>
          <p:nvPr/>
        </p:nvSpPr>
        <p:spPr>
          <a:xfrm xmlns:a="http://schemas.openxmlformats.org/drawingml/2006/main">
            <a:off x="804672" y="5129784"/>
            <a:ext cx="384048" cy="384048"/>
          </a:xfrm>
          <a:prstGeom xmlns:a="http://schemas.openxmlformats.org/drawingml/2006/main" prst="ellipse">
            <a:avLst/>
          </a:prstGeom>
          <a:solidFill xmlns:a="http://schemas.openxmlformats.org/drawingml/2006/main">
            <a:srgbClr val="D64550"/>
          </a:solidFill>
        </p:spPr>
      </p:sp>
      <p:pic>
        <p:nvPicPr>
          <p:cNvPr id="75" name="Image 4"/>
          <p:cNvPicPr>
            <a:picLocks xmlns:a="http://schemas.openxmlformats.org/drawingml/2006/main" noChangeAspect="1"/>
          </p:cNvPicPr>
          <p:nvPr/>
        </p:nvPicPr>
        <p:blipFill>
          <a:blip xmlns:r="http://schemas.openxmlformats.org/officeDocument/2006/relationships" xmlns:a="http://schemas.openxmlformats.org/drawingml/2006/main" r:embed="Rc71a1f8946fa4cf9"/>
          <a:stretch xmlns:a="http://schemas.openxmlformats.org/drawingml/2006/main">
            <a:fillRect l="0" t="0" r="0" b="0"/>
          </a:stretch>
        </p:blipFill>
        <p:spPr>
          <a:xfrm xmlns:a="http://schemas.openxmlformats.org/drawingml/2006/main">
            <a:off x="891083" y="5216195"/>
            <a:ext cx="211226" cy="211226"/>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096D4DEB-C529-4CA6-901C-7ECB1FD38524}"/>
              </a:ext>
            </a:extLst>
          </p:cNvPr>
          <p:cNvSpPr>
            <a:spLocks xmlns:a="http://schemas.openxmlformats.org/drawingml/2006/main" noGrp="1"/>
          </p:cNvSpPr>
          <p:nvPr/>
        </p:nvSpPr>
        <p:spPr>
          <a:xfrm xmlns:a="http://schemas.openxmlformats.org/drawingml/2006/main">
            <a:off x="1399032" y="5074920"/>
            <a:ext cx="100154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6233B"/>
                </a:solidFill>
                <a:latin typeface="Calibri"/>
                <a:ea typeface="Calibri"/>
                <a:cs typeface="Calibri"/>
              </a:rPr>
              <a:t>No delegation chain  —  you cannot separate the user from the agent acting for them.</a:t>
            </a:r>
          </a:p>
        </p:txBody>
      </p:sp>
      <p:sp>
        <p:nvSpPr>
          <p:cNvPr id="35" name="Shape 28">
            <a:extLst xmlns:a="http://schemas.openxmlformats.org/drawingml/2006/main">
              <a:ext uri="{FF2B5EF4-FFF2-40B4-BE49-F238E27FC236}">
                <a16:creationId xmlns:a16="http://schemas.microsoft.com/office/drawing/2014/main" id="{0AC77264-45AF-4552-9199-6A8EEF385AFD}"/>
              </a:ext>
            </a:extLst>
          </p:cNvPr>
          <p:cNvSpPr>
            <a:spLocks xmlns:a="http://schemas.openxmlformats.org/drawingml/2006/main" noGrp="1"/>
          </p:cNvSpPr>
          <p:nvPr/>
        </p:nvSpPr>
        <p:spPr>
          <a:xfrm xmlns:a="http://schemas.openxmlformats.org/drawingml/2006/main">
            <a:off x="804672" y="5696712"/>
            <a:ext cx="384048" cy="384048"/>
          </a:xfrm>
          <a:prstGeom xmlns:a="http://schemas.openxmlformats.org/drawingml/2006/main" prst="ellipse">
            <a:avLst/>
          </a:prstGeom>
          <a:solidFill xmlns:a="http://schemas.openxmlformats.org/drawingml/2006/main">
            <a:srgbClr val="D64550"/>
          </a:solidFill>
        </p:spPr>
      </p:sp>
      <p:pic>
        <p:nvPicPr>
          <p:cNvPr id="78" name="Image 5"/>
          <p:cNvPicPr>
            <a:picLocks xmlns:a="http://schemas.openxmlformats.org/drawingml/2006/main" noChangeAspect="1"/>
          </p:cNvPicPr>
          <p:nvPr/>
        </p:nvPicPr>
        <p:blipFill>
          <a:blip xmlns:r="http://schemas.openxmlformats.org/officeDocument/2006/relationships" xmlns:a="http://schemas.openxmlformats.org/drawingml/2006/main" r:embed="R7bb655cac80a47fe"/>
          <a:stretch xmlns:a="http://schemas.openxmlformats.org/drawingml/2006/main">
            <a:fillRect l="0" t="0" r="0" b="0"/>
          </a:stretch>
        </p:blipFill>
        <p:spPr>
          <a:xfrm xmlns:a="http://schemas.openxmlformats.org/drawingml/2006/main">
            <a:off x="891083" y="5783123"/>
            <a:ext cx="211226" cy="211226"/>
          </a:xfrm>
          <a:prstGeom xmlns:a="http://schemas.openxmlformats.org/drawingml/2006/main" prst="rect">
            <a:avLst/>
          </a:prstGeom>
        </p:spPr>
      </p:pic>
      <p:sp>
        <p:nvSpPr>
          <p:cNvPr id="37" name="Text 29">
            <a:extLst xmlns:a="http://schemas.openxmlformats.org/drawingml/2006/main">
              <a:ext uri="{FF2B5EF4-FFF2-40B4-BE49-F238E27FC236}">
                <a16:creationId xmlns:a16="http://schemas.microsoft.com/office/drawing/2014/main" id="{BAB636B9-3F86-47C2-972B-A48C1A6F4393}"/>
              </a:ext>
            </a:extLst>
          </p:cNvPr>
          <p:cNvSpPr>
            <a:spLocks xmlns:a="http://schemas.openxmlformats.org/drawingml/2006/main" noGrp="1"/>
          </p:cNvSpPr>
          <p:nvPr/>
        </p:nvSpPr>
        <p:spPr>
          <a:xfrm xmlns:a="http://schemas.openxmlformats.org/drawingml/2006/main">
            <a:off x="1399032" y="5641848"/>
            <a:ext cx="100154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6233B"/>
                </a:solidFill>
                <a:latin typeface="Calibri"/>
                <a:ea typeface="Calibri"/>
                <a:cs typeface="Calibri"/>
              </a:rPr>
              <a:t>No live revocation  —  policy changes become credential rotation.</a:t>
            </a:r>
          </a:p>
        </p:txBody>
      </p:sp>
    </p:spTree>
    <p:extLst>
      <p:ext uri="{BB962C8B-B14F-4D97-AF65-F5344CB8AC3E}">
        <p14:creationId xmlns:p14="http://schemas.microsoft.com/office/powerpoint/2010/main" val="1919920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975F96-0233-4A4E-A9FB-805006593E70}"/>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THE CONTROL PLANE</a:t>
            </a:r>
          </a:p>
        </p:txBody>
      </p:sp>
      <p:sp>
        <p:nvSpPr>
          <p:cNvPr id="3" name="Text 1">
            <a:extLst xmlns:a="http://schemas.openxmlformats.org/drawingml/2006/main">
              <a:ext uri="{FF2B5EF4-FFF2-40B4-BE49-F238E27FC236}">
                <a16:creationId xmlns:a16="http://schemas.microsoft.com/office/drawing/2014/main" id="{BD18D5EA-7116-4F09-BE9D-45E7EA71B829}"/>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One identity plane for every caller</a:t>
            </a:r>
          </a:p>
        </p:txBody>
      </p:sp>
      <p:sp>
        <p:nvSpPr>
          <p:cNvPr id="4" name="Shape 2">
            <a:extLst xmlns:a="http://schemas.openxmlformats.org/drawingml/2006/main">
              <a:ext uri="{FF2B5EF4-FFF2-40B4-BE49-F238E27FC236}">
                <a16:creationId xmlns:a16="http://schemas.microsoft.com/office/drawing/2014/main" id="{FC5D954E-A1B5-404C-9701-14D231504FB6}"/>
              </a:ext>
            </a:extLst>
          </p:cNvPr>
          <p:cNvSpPr>
            <a:spLocks xmlns:a="http://schemas.openxmlformats.org/drawingml/2006/main" noGrp="1"/>
          </p:cNvSpPr>
          <p:nvPr/>
        </p:nvSpPr>
        <p:spPr>
          <a:xfrm xmlns:a="http://schemas.openxmlformats.org/drawingml/2006/main">
            <a:off x="1737360" y="1783080"/>
            <a:ext cx="3657600" cy="841248"/>
          </a:xfrm>
          <a:prstGeom xmlns:a="http://schemas.openxmlformats.org/drawingml/2006/main" prst="roundRect">
            <a:avLst>
              <a:gd name="adj" fmla="val 9783"/>
            </a:avLst>
          </a:prstGeom>
          <a:solidFill xmlns:a="http://schemas.openxmlformats.org/drawingml/2006/main">
            <a:srgbClr val="F5F8FB"/>
          </a:solidFill>
          <a:ln xmlns:a="http://schemas.openxmlformats.org/drawingml/2006/main" w="12700">
            <a:solidFill>
              <a:srgbClr val="E6EBF2"/>
            </a:solidFill>
            <a:prstDash val="solid"/>
          </a:ln>
          <a:effectLst xmlns:a="http://schemas.openxmlformats.org/drawingml/2006/main">
            <a:outerShdw blurRad="127000" dist="38100" dir="5400000" sx="100000" sy="100000" kx="0" ky="0" algn="bl" rotWithShape="0">
              <a:srgbClr val="1B2A44">
                <a:alpha val="10000"/>
              </a:srgbClr>
            </a:outerShdw>
          </a:effectLst>
        </p:spPr>
      </p:sp>
      <p:sp>
        <p:nvSpPr>
          <p:cNvPr id="5" name="Shape 3">
            <a:extLst xmlns:a="http://schemas.openxmlformats.org/drawingml/2006/main">
              <a:ext uri="{FF2B5EF4-FFF2-40B4-BE49-F238E27FC236}">
                <a16:creationId xmlns:a16="http://schemas.microsoft.com/office/drawing/2014/main" id="{8D4C9EDC-CEB9-4D5B-A648-D5DDC42B7F21}"/>
              </a:ext>
            </a:extLst>
          </p:cNvPr>
          <p:cNvSpPr>
            <a:spLocks xmlns:a="http://schemas.openxmlformats.org/drawingml/2006/main" noGrp="1"/>
          </p:cNvSpPr>
          <p:nvPr/>
        </p:nvSpPr>
        <p:spPr>
          <a:xfrm xmlns:a="http://schemas.openxmlformats.org/drawingml/2006/main" rot="10800000">
            <a:off x="4219956" y="2606040"/>
            <a:ext cx="201168" cy="155448"/>
          </a:xfrm>
          <a:prstGeom xmlns:a="http://schemas.openxmlformats.org/drawingml/2006/main" prst="triangle">
            <a:avLst/>
          </a:prstGeom>
          <a:solidFill xmlns:a="http://schemas.openxmlformats.org/drawingml/2006/main">
            <a:srgbClr val="F5F8FB"/>
          </a:solidFill>
        </p:spPr>
      </p:sp>
      <p:sp>
        <p:nvSpPr>
          <p:cNvPr id="6" name="Text 4">
            <a:extLst xmlns:a="http://schemas.openxmlformats.org/drawingml/2006/main">
              <a:ext uri="{FF2B5EF4-FFF2-40B4-BE49-F238E27FC236}">
                <a16:creationId xmlns:a16="http://schemas.microsoft.com/office/drawing/2014/main" id="{73FBE878-BCB6-4267-BDE2-46671875F9A8}"/>
              </a:ext>
            </a:extLst>
          </p:cNvPr>
          <p:cNvSpPr>
            <a:spLocks xmlns:a="http://schemas.openxmlformats.org/drawingml/2006/main" noGrp="1"/>
          </p:cNvSpPr>
          <p:nvPr/>
        </p:nvSpPr>
        <p:spPr>
          <a:xfrm xmlns:a="http://schemas.openxmlformats.org/drawingml/2006/main">
            <a:off x="1920240" y="1783080"/>
            <a:ext cx="329184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200" b="1">
                <a:solidFill>
                  <a:srgbClr val="0A6E63"/>
                </a:solidFill>
                <a:latin typeface="Calibri"/>
                <a:ea typeface="Calibri"/>
                <a:cs typeface="Calibri"/>
              </a:rPr>
              <a:t>Inbound  each principal authenticates through its native trust path</a:t>
            </a:r>
          </a:p>
        </p:txBody>
      </p:sp>
      <p:sp>
        <p:nvSpPr>
          <p:cNvPr id="7" name="Shape 5">
            <a:extLst xmlns:a="http://schemas.openxmlformats.org/drawingml/2006/main">
              <a:ext uri="{FF2B5EF4-FFF2-40B4-BE49-F238E27FC236}">
                <a16:creationId xmlns:a16="http://schemas.microsoft.com/office/drawing/2014/main" id="{1FF61914-B992-498C-AC36-BF1874609996}"/>
              </a:ext>
            </a:extLst>
          </p:cNvPr>
          <p:cNvSpPr>
            <a:spLocks xmlns:a="http://schemas.openxmlformats.org/drawingml/2006/main" noGrp="1"/>
          </p:cNvSpPr>
          <p:nvPr/>
        </p:nvSpPr>
        <p:spPr>
          <a:xfrm xmlns:a="http://schemas.openxmlformats.org/drawingml/2006/main">
            <a:off x="6446520" y="1783080"/>
            <a:ext cx="4965192" cy="841248"/>
          </a:xfrm>
          <a:prstGeom xmlns:a="http://schemas.openxmlformats.org/drawingml/2006/main" prst="roundRect">
            <a:avLst>
              <a:gd name="adj" fmla="val 9783"/>
            </a:avLst>
          </a:prstGeom>
          <a:solidFill xmlns:a="http://schemas.openxmlformats.org/drawingml/2006/main">
            <a:srgbClr val="F5F8FB"/>
          </a:solidFill>
          <a:ln xmlns:a="http://schemas.openxmlformats.org/drawingml/2006/main" w="12700">
            <a:solidFill>
              <a:srgbClr val="E6EBF2"/>
            </a:solidFill>
            <a:prstDash val="solid"/>
          </a:ln>
          <a:effectLst xmlns:a="http://schemas.openxmlformats.org/drawingml/2006/main">
            <a:outerShdw blurRad="127000" dist="38100" dir="5400000" sx="100000" sy="100000" kx="0" ky="0" algn="bl" rotWithShape="0">
              <a:srgbClr val="1B2A44">
                <a:alpha val="10000"/>
              </a:srgbClr>
            </a:outerShdw>
          </a:effectLst>
        </p:spPr>
      </p:sp>
      <p:sp>
        <p:nvSpPr>
          <p:cNvPr id="8" name="Shape 6">
            <a:extLst xmlns:a="http://schemas.openxmlformats.org/drawingml/2006/main">
              <a:ext uri="{FF2B5EF4-FFF2-40B4-BE49-F238E27FC236}">
                <a16:creationId xmlns:a16="http://schemas.microsoft.com/office/drawing/2014/main" id="{0D7A5BCC-6088-4298-9569-E32A877BB5CA}"/>
              </a:ext>
            </a:extLst>
          </p:cNvPr>
          <p:cNvSpPr>
            <a:spLocks xmlns:a="http://schemas.openxmlformats.org/drawingml/2006/main" noGrp="1"/>
          </p:cNvSpPr>
          <p:nvPr/>
        </p:nvSpPr>
        <p:spPr>
          <a:xfrm xmlns:a="http://schemas.openxmlformats.org/drawingml/2006/main" rot="10800000">
            <a:off x="7968996" y="2606040"/>
            <a:ext cx="201168" cy="155448"/>
          </a:xfrm>
          <a:prstGeom xmlns:a="http://schemas.openxmlformats.org/drawingml/2006/main" prst="triangle">
            <a:avLst/>
          </a:prstGeom>
          <a:solidFill xmlns:a="http://schemas.openxmlformats.org/drawingml/2006/main">
            <a:srgbClr val="F5F8FB"/>
          </a:solidFill>
        </p:spPr>
      </p:sp>
      <p:sp>
        <p:nvSpPr>
          <p:cNvPr id="9" name="Text 7">
            <a:extLst xmlns:a="http://schemas.openxmlformats.org/drawingml/2006/main">
              <a:ext uri="{FF2B5EF4-FFF2-40B4-BE49-F238E27FC236}">
                <a16:creationId xmlns:a16="http://schemas.microsoft.com/office/drawing/2014/main" id="{72DE4686-115F-44AE-85F1-D3F2FE6EFF82}"/>
              </a:ext>
            </a:extLst>
          </p:cNvPr>
          <p:cNvSpPr>
            <a:spLocks xmlns:a="http://schemas.openxmlformats.org/drawingml/2006/main" noGrp="1"/>
          </p:cNvSpPr>
          <p:nvPr/>
        </p:nvSpPr>
        <p:spPr>
          <a:xfrm xmlns:a="http://schemas.openxmlformats.org/drawingml/2006/main">
            <a:off x="6629400" y="1783080"/>
            <a:ext cx="459943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200" b="1">
                <a:solidFill>
                  <a:srgbClr val="0A6E63"/>
                </a:solidFill>
                <a:latin typeface="Calibri"/>
                <a:ea typeface="Calibri"/>
                <a:cs typeface="Calibri"/>
              </a:rPr>
              <a:t>Outbound  every tool call resolves against live authorization policy</a:t>
            </a:r>
          </a:p>
        </p:txBody>
      </p:sp>
      <p:sp>
        <p:nvSpPr>
          <p:cNvPr id="10" name="Shape 8">
            <a:extLst xmlns:a="http://schemas.openxmlformats.org/drawingml/2006/main">
              <a:ext uri="{FF2B5EF4-FFF2-40B4-BE49-F238E27FC236}">
                <a16:creationId xmlns:a16="http://schemas.microsoft.com/office/drawing/2014/main" id="{05154E03-4F45-4468-A7C0-72A15BC169B9}"/>
              </a:ext>
            </a:extLst>
          </p:cNvPr>
          <p:cNvSpPr>
            <a:spLocks xmlns:a="http://schemas.openxmlformats.org/drawingml/2006/main" noGrp="1"/>
          </p:cNvSpPr>
          <p:nvPr/>
        </p:nvSpPr>
        <p:spPr>
          <a:xfrm xmlns:a="http://schemas.openxmlformats.org/drawingml/2006/main">
            <a:off x="777240" y="2880360"/>
            <a:ext cx="1508760" cy="16002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1" name="Shape 9">
            <a:extLst xmlns:a="http://schemas.openxmlformats.org/drawingml/2006/main">
              <a:ext uri="{FF2B5EF4-FFF2-40B4-BE49-F238E27FC236}">
                <a16:creationId xmlns:a16="http://schemas.microsoft.com/office/drawing/2014/main" id="{C97B050A-55B8-4649-8E64-002BF5878E41}"/>
              </a:ext>
            </a:extLst>
          </p:cNvPr>
          <p:cNvSpPr>
            <a:spLocks xmlns:a="http://schemas.openxmlformats.org/drawingml/2006/main" noGrp="1"/>
          </p:cNvSpPr>
          <p:nvPr/>
        </p:nvSpPr>
        <p:spPr>
          <a:xfrm xmlns:a="http://schemas.openxmlformats.org/drawingml/2006/main">
            <a:off x="1257300" y="3099816"/>
            <a:ext cx="548640" cy="548640"/>
          </a:xfrm>
          <a:prstGeom xmlns:a="http://schemas.openxmlformats.org/drawingml/2006/main" prst="ellipse">
            <a:avLst/>
          </a:prstGeom>
          <a:solidFill xmlns:a="http://schemas.openxmlformats.org/drawingml/2006/main">
            <a:srgbClr val="E9F6F4"/>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fcd173e9c42d40a5"/>
          <a:stretch xmlns:a="http://schemas.openxmlformats.org/drawingml/2006/main">
            <a:fillRect l="0" t="0" r="0" b="0"/>
          </a:stretch>
        </p:blipFill>
        <p:spPr>
          <a:xfrm xmlns:a="http://schemas.openxmlformats.org/drawingml/2006/main">
            <a:off x="1394460" y="3236976"/>
            <a:ext cx="274320" cy="27432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56871660-9370-4B46-A64D-F800F8364B89}"/>
              </a:ext>
            </a:extLst>
          </p:cNvPr>
          <p:cNvSpPr>
            <a:spLocks xmlns:a="http://schemas.openxmlformats.org/drawingml/2006/main" noGrp="1"/>
          </p:cNvSpPr>
          <p:nvPr/>
        </p:nvSpPr>
        <p:spPr>
          <a:xfrm xmlns:a="http://schemas.openxmlformats.org/drawingml/2006/main">
            <a:off x="777240" y="3721608"/>
            <a:ext cx="150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Callers</a:t>
            </a:r>
          </a:p>
        </p:txBody>
      </p:sp>
      <p:sp>
        <p:nvSpPr>
          <p:cNvPr id="14" name="Text 11">
            <a:extLst xmlns:a="http://schemas.openxmlformats.org/drawingml/2006/main">
              <a:ext uri="{FF2B5EF4-FFF2-40B4-BE49-F238E27FC236}">
                <a16:creationId xmlns:a16="http://schemas.microsoft.com/office/drawing/2014/main" id="{D1F645AC-5EA5-4A2F-8A26-5B57FBCF442B}"/>
              </a:ext>
            </a:extLst>
          </p:cNvPr>
          <p:cNvSpPr>
            <a:spLocks xmlns:a="http://schemas.openxmlformats.org/drawingml/2006/main" noGrp="1"/>
          </p:cNvSpPr>
          <p:nvPr/>
        </p:nvSpPr>
        <p:spPr>
          <a:xfrm xmlns:a="http://schemas.openxmlformats.org/drawingml/2006/main">
            <a:off x="777240" y="4023360"/>
            <a:ext cx="1508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493A6"/>
                </a:solidFill>
                <a:latin typeface="Calibri"/>
                <a:ea typeface="Calibri"/>
                <a:cs typeface="Calibri"/>
              </a:rPr>
              <a:t>user · machine · agent</a:t>
            </a:r>
          </a:p>
        </p:txBody>
      </p:sp>
      <p:sp>
        <p:nvSpPr>
          <p:cNvPr id="15" name="Shape 12">
            <a:extLst xmlns:a="http://schemas.openxmlformats.org/drawingml/2006/main">
              <a:ext uri="{FF2B5EF4-FFF2-40B4-BE49-F238E27FC236}">
                <a16:creationId xmlns:a16="http://schemas.microsoft.com/office/drawing/2014/main" id="{FD68E946-FA9E-4B33-B541-A57A5D69C035}"/>
              </a:ext>
            </a:extLst>
          </p:cNvPr>
          <p:cNvSpPr>
            <a:spLocks xmlns:a="http://schemas.openxmlformats.org/drawingml/2006/main" noGrp="1"/>
          </p:cNvSpPr>
          <p:nvPr/>
        </p:nvSpPr>
        <p:spPr>
          <a:xfrm xmlns:a="http://schemas.openxmlformats.org/drawingml/2006/main">
            <a:off x="2880360" y="2880360"/>
            <a:ext cx="2880360" cy="1600200"/>
          </a:xfrm>
          <a:prstGeom xmlns:a="http://schemas.openxmlformats.org/drawingml/2006/main" prst="roundRect">
            <a:avLst>
              <a:gd name="adj" fmla="val 6286"/>
            </a:avLst>
          </a:prstGeom>
          <a:solidFill xmlns:a="http://schemas.openxmlformats.org/drawingml/2006/main">
            <a:srgbClr val="0E8C7F"/>
          </a:solidFill>
          <a:effectLst xmlns:a="http://schemas.openxmlformats.org/drawingml/2006/main">
            <a:outerShdw blurRad="215900" dist="63500" dir="5400000" sx="100000" sy="100000" kx="0" ky="0" algn="bl" rotWithShape="0">
              <a:srgbClr val="1B2A44">
                <a:alpha val="11000"/>
              </a:srgbClr>
            </a:outerShdw>
          </a:effectLst>
        </p:spPr>
      </p:sp>
      <p:sp>
        <p:nvSpPr>
          <p:cNvPr id="16" name="Shape 13">
            <a:extLst xmlns:a="http://schemas.openxmlformats.org/drawingml/2006/main">
              <a:ext uri="{FF2B5EF4-FFF2-40B4-BE49-F238E27FC236}">
                <a16:creationId xmlns:a16="http://schemas.microsoft.com/office/drawing/2014/main" id="{3A8C7D39-C62B-4FBD-8962-3A47E939DE42}"/>
              </a:ext>
            </a:extLst>
          </p:cNvPr>
          <p:cNvSpPr>
            <a:spLocks xmlns:a="http://schemas.openxmlformats.org/drawingml/2006/main" noGrp="1"/>
          </p:cNvSpPr>
          <p:nvPr/>
        </p:nvSpPr>
        <p:spPr>
          <a:xfrm xmlns:a="http://schemas.openxmlformats.org/drawingml/2006/main">
            <a:off x="4055364" y="3063240"/>
            <a:ext cx="530352" cy="530352"/>
          </a:xfrm>
          <a:prstGeom xmlns:a="http://schemas.openxmlformats.org/drawingml/2006/main" prst="ellipse">
            <a:avLst/>
          </a:prstGeom>
          <a:solidFill xmlns:a="http://schemas.openxmlformats.org/drawingml/2006/main">
            <a:srgbClr val="FFFFFF"/>
          </a:solidFill>
        </p:spPr>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2660cb13e57a4695"/>
          <a:stretch xmlns:a="http://schemas.openxmlformats.org/drawingml/2006/main">
            <a:fillRect l="0" t="0" r="0" b="0"/>
          </a:stretch>
        </p:blipFill>
        <p:spPr>
          <a:xfrm xmlns:a="http://schemas.openxmlformats.org/drawingml/2006/main">
            <a:off x="4187952" y="3195828"/>
            <a:ext cx="265176" cy="26517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7B487EAF-79A2-4577-98B5-327A763FBEC4}"/>
              </a:ext>
            </a:extLst>
          </p:cNvPr>
          <p:cNvSpPr>
            <a:spLocks xmlns:a="http://schemas.openxmlformats.org/drawingml/2006/main" noGrp="1"/>
          </p:cNvSpPr>
          <p:nvPr/>
        </p:nvSpPr>
        <p:spPr>
          <a:xfrm xmlns:a="http://schemas.openxmlformats.org/drawingml/2006/main">
            <a:off x="2880360" y="3593592"/>
            <a:ext cx="2880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AuthSec</a:t>
            </a:r>
          </a:p>
        </p:txBody>
      </p:sp>
      <p:sp>
        <p:nvSpPr>
          <p:cNvPr id="19" name="Shape 15">
            <a:extLst xmlns:a="http://schemas.openxmlformats.org/drawingml/2006/main">
              <a:ext uri="{FF2B5EF4-FFF2-40B4-BE49-F238E27FC236}">
                <a16:creationId xmlns:a16="http://schemas.microsoft.com/office/drawing/2014/main" id="{7AB90D6B-A3E5-447D-9229-FA9BDBDBE7B2}"/>
              </a:ext>
            </a:extLst>
          </p:cNvPr>
          <p:cNvSpPr>
            <a:spLocks xmlns:a="http://schemas.openxmlformats.org/drawingml/2006/main" noGrp="1"/>
          </p:cNvSpPr>
          <p:nvPr/>
        </p:nvSpPr>
        <p:spPr>
          <a:xfrm xmlns:a="http://schemas.openxmlformats.org/drawingml/2006/main">
            <a:off x="3044952" y="3959352"/>
            <a:ext cx="1280160" cy="384048"/>
          </a:xfrm>
          <a:prstGeom xmlns:a="http://schemas.openxmlformats.org/drawingml/2006/main" prst="roundRect">
            <a:avLst>
              <a:gd name="adj" fmla="val 14286"/>
            </a:avLst>
          </a:prstGeom>
          <a:solidFill xmlns:a="http://schemas.openxmlformats.org/drawingml/2006/main">
            <a:srgbClr val="FFFFFF"/>
          </a:solidFill>
        </p:spPr>
      </p:sp>
      <p:sp>
        <p:nvSpPr>
          <p:cNvPr id="20" name="Text 16">
            <a:extLst xmlns:a="http://schemas.openxmlformats.org/drawingml/2006/main">
              <a:ext uri="{FF2B5EF4-FFF2-40B4-BE49-F238E27FC236}">
                <a16:creationId xmlns:a16="http://schemas.microsoft.com/office/drawing/2014/main" id="{B580F548-39AE-426C-A025-9E443EFAF199}"/>
              </a:ext>
            </a:extLst>
          </p:cNvPr>
          <p:cNvSpPr>
            <a:spLocks xmlns:a="http://schemas.openxmlformats.org/drawingml/2006/main" noGrp="1"/>
          </p:cNvSpPr>
          <p:nvPr/>
        </p:nvSpPr>
        <p:spPr>
          <a:xfrm xmlns:a="http://schemas.openxmlformats.org/drawingml/2006/main">
            <a:off x="3044952" y="3959352"/>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alibri"/>
                <a:ea typeface="Calibri"/>
                <a:cs typeface="Calibri"/>
              </a:rPr>
              <a:t>verify proof</a:t>
            </a:r>
          </a:p>
        </p:txBody>
      </p:sp>
      <p:sp>
        <p:nvSpPr>
          <p:cNvPr id="21" name="Shape 17">
            <a:extLst xmlns:a="http://schemas.openxmlformats.org/drawingml/2006/main">
              <a:ext uri="{FF2B5EF4-FFF2-40B4-BE49-F238E27FC236}">
                <a16:creationId xmlns:a16="http://schemas.microsoft.com/office/drawing/2014/main" id="{5E5AEF56-82CF-4D6E-BB3E-79D7AC51CFA7}"/>
              </a:ext>
            </a:extLst>
          </p:cNvPr>
          <p:cNvSpPr>
            <a:spLocks xmlns:a="http://schemas.openxmlformats.org/drawingml/2006/main" noGrp="1"/>
          </p:cNvSpPr>
          <p:nvPr/>
        </p:nvSpPr>
        <p:spPr>
          <a:xfrm xmlns:a="http://schemas.openxmlformats.org/drawingml/2006/main">
            <a:off x="4343400" y="3959352"/>
            <a:ext cx="1280160" cy="384048"/>
          </a:xfrm>
          <a:prstGeom xmlns:a="http://schemas.openxmlformats.org/drawingml/2006/main" prst="roundRect">
            <a:avLst>
              <a:gd name="adj" fmla="val 14286"/>
            </a:avLst>
          </a:prstGeom>
          <a:solidFill xmlns:a="http://schemas.openxmlformats.org/drawingml/2006/main">
            <a:srgbClr val="FFFFFF"/>
          </a:solidFill>
        </p:spPr>
      </p:sp>
      <p:sp>
        <p:nvSpPr>
          <p:cNvPr id="22" name="Text 18">
            <a:extLst xmlns:a="http://schemas.openxmlformats.org/drawingml/2006/main">
              <a:ext uri="{FF2B5EF4-FFF2-40B4-BE49-F238E27FC236}">
                <a16:creationId xmlns:a16="http://schemas.microsoft.com/office/drawing/2014/main" id="{9A95FC32-93CF-4F42-A103-1CF8F78A9852}"/>
              </a:ext>
            </a:extLst>
          </p:cNvPr>
          <p:cNvSpPr>
            <a:spLocks xmlns:a="http://schemas.openxmlformats.org/drawingml/2006/main" noGrp="1"/>
          </p:cNvSpPr>
          <p:nvPr/>
        </p:nvSpPr>
        <p:spPr>
          <a:xfrm xmlns:a="http://schemas.openxmlformats.org/drawingml/2006/main">
            <a:off x="4343400" y="3959352"/>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alibri"/>
                <a:ea typeface="Calibri"/>
                <a:cs typeface="Calibri"/>
              </a:rPr>
              <a:t>issue resource token</a:t>
            </a:r>
          </a:p>
        </p:txBody>
      </p:sp>
      <p:sp>
        <p:nvSpPr>
          <p:cNvPr id="23" name="Shape 19">
            <a:extLst xmlns:a="http://schemas.openxmlformats.org/drawingml/2006/main">
              <a:ext uri="{FF2B5EF4-FFF2-40B4-BE49-F238E27FC236}">
                <a16:creationId xmlns:a16="http://schemas.microsoft.com/office/drawing/2014/main" id="{4B2C4D31-928E-473C-869D-48DAB0F3F07C}"/>
              </a:ext>
            </a:extLst>
          </p:cNvPr>
          <p:cNvSpPr>
            <a:spLocks xmlns:a="http://schemas.openxmlformats.org/drawingml/2006/main" noGrp="1"/>
          </p:cNvSpPr>
          <p:nvPr/>
        </p:nvSpPr>
        <p:spPr>
          <a:xfrm xmlns:a="http://schemas.openxmlformats.org/drawingml/2006/main">
            <a:off x="6949440" y="2880360"/>
            <a:ext cx="2240280" cy="16002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24" name="Shape 20">
            <a:extLst xmlns:a="http://schemas.openxmlformats.org/drawingml/2006/main">
              <a:ext uri="{FF2B5EF4-FFF2-40B4-BE49-F238E27FC236}">
                <a16:creationId xmlns:a16="http://schemas.microsoft.com/office/drawing/2014/main" id="{FF6A109B-8F49-4481-A2CA-B4274BDC9DE5}"/>
              </a:ext>
            </a:extLst>
          </p:cNvPr>
          <p:cNvSpPr>
            <a:spLocks xmlns:a="http://schemas.openxmlformats.org/drawingml/2006/main" noGrp="1"/>
          </p:cNvSpPr>
          <p:nvPr/>
        </p:nvSpPr>
        <p:spPr>
          <a:xfrm xmlns:a="http://schemas.openxmlformats.org/drawingml/2006/main">
            <a:off x="7804404" y="3063240"/>
            <a:ext cx="530352" cy="530352"/>
          </a:xfrm>
          <a:prstGeom xmlns:a="http://schemas.openxmlformats.org/drawingml/2006/main" prst="ellipse">
            <a:avLst/>
          </a:prstGeom>
          <a:solidFill xmlns:a="http://schemas.openxmlformats.org/drawingml/2006/main">
            <a:srgbClr val="E9F6F4"/>
          </a:solidFill>
        </p:spPr>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36c4360698934e5d"/>
          <a:stretch xmlns:a="http://schemas.openxmlformats.org/drawingml/2006/main">
            <a:fillRect l="0" t="0" r="0" b="0"/>
          </a:stretch>
        </p:blipFill>
        <p:spPr>
          <a:xfrm xmlns:a="http://schemas.openxmlformats.org/drawingml/2006/main">
            <a:off x="7936992" y="3195828"/>
            <a:ext cx="265176" cy="265176"/>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8B7B64A1-7B4B-4094-92F2-362F42C1F27E}"/>
              </a:ext>
            </a:extLst>
          </p:cNvPr>
          <p:cNvSpPr>
            <a:spLocks xmlns:a="http://schemas.openxmlformats.org/drawingml/2006/main" noGrp="1"/>
          </p:cNvSpPr>
          <p:nvPr/>
        </p:nvSpPr>
        <p:spPr>
          <a:xfrm xmlns:a="http://schemas.openxmlformats.org/drawingml/2006/main">
            <a:off x="6949440" y="3593592"/>
            <a:ext cx="2240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6233B"/>
                </a:solidFill>
                <a:latin typeface="Calibri"/>
                <a:ea typeface="Calibri"/>
                <a:cs typeface="Calibri"/>
              </a:rPr>
              <a:t>Protected MCP</a:t>
            </a:r>
          </a:p>
        </p:txBody>
      </p:sp>
      <p:sp>
        <p:nvSpPr>
          <p:cNvPr id="27" name="Shape 22">
            <a:extLst xmlns:a="http://schemas.openxmlformats.org/drawingml/2006/main">
              <a:ext uri="{FF2B5EF4-FFF2-40B4-BE49-F238E27FC236}">
                <a16:creationId xmlns:a16="http://schemas.microsoft.com/office/drawing/2014/main" id="{1031181F-9D85-417D-BF47-E5F02454835F}"/>
              </a:ext>
            </a:extLst>
          </p:cNvPr>
          <p:cNvSpPr>
            <a:spLocks xmlns:a="http://schemas.openxmlformats.org/drawingml/2006/main" noGrp="1"/>
          </p:cNvSpPr>
          <p:nvPr/>
        </p:nvSpPr>
        <p:spPr>
          <a:xfrm xmlns:a="http://schemas.openxmlformats.org/drawingml/2006/main">
            <a:off x="7132320" y="3959352"/>
            <a:ext cx="1874520" cy="384048"/>
          </a:xfrm>
          <a:prstGeom xmlns:a="http://schemas.openxmlformats.org/drawingml/2006/main" prst="roundRect">
            <a:avLst>
              <a:gd name="adj" fmla="val 14286"/>
            </a:avLst>
          </a:prstGeom>
          <a:solidFill xmlns:a="http://schemas.openxmlformats.org/drawingml/2006/main">
            <a:srgbClr val="E9F6F4"/>
          </a:solidFill>
        </p:spPr>
      </p:sp>
      <p:sp>
        <p:nvSpPr>
          <p:cNvPr id="28" name="Text 23">
            <a:extLst xmlns:a="http://schemas.openxmlformats.org/drawingml/2006/main">
              <a:ext uri="{FF2B5EF4-FFF2-40B4-BE49-F238E27FC236}">
                <a16:creationId xmlns:a16="http://schemas.microsoft.com/office/drawing/2014/main" id="{E2C5B4F7-75C1-4471-B45C-C306784050E3}"/>
              </a:ext>
            </a:extLst>
          </p:cNvPr>
          <p:cNvSpPr>
            <a:spLocks xmlns:a="http://schemas.openxmlformats.org/drawingml/2006/main" noGrp="1"/>
          </p:cNvSpPr>
          <p:nvPr/>
        </p:nvSpPr>
        <p:spPr>
          <a:xfrm xmlns:a="http://schemas.openxmlformats.org/drawingml/2006/main">
            <a:off x="7132320" y="3959352"/>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alibri"/>
                <a:ea typeface="Calibri"/>
                <a:cs typeface="Calibri"/>
              </a:rPr>
              <a:t>live policy · every call</a:t>
            </a:r>
          </a:p>
        </p:txBody>
      </p:sp>
      <p:sp>
        <p:nvSpPr>
          <p:cNvPr id="29" name="Shape 24">
            <a:extLst xmlns:a="http://schemas.openxmlformats.org/drawingml/2006/main">
              <a:ext uri="{FF2B5EF4-FFF2-40B4-BE49-F238E27FC236}">
                <a16:creationId xmlns:a16="http://schemas.microsoft.com/office/drawing/2014/main" id="{6C098685-3AB1-4E9C-A532-E4891DD1C22B}"/>
              </a:ext>
            </a:extLst>
          </p:cNvPr>
          <p:cNvSpPr>
            <a:spLocks xmlns:a="http://schemas.openxmlformats.org/drawingml/2006/main" noGrp="1"/>
          </p:cNvSpPr>
          <p:nvPr/>
        </p:nvSpPr>
        <p:spPr>
          <a:xfrm xmlns:a="http://schemas.openxmlformats.org/drawingml/2006/main">
            <a:off x="9692640" y="2880360"/>
            <a:ext cx="1719072" cy="16002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b425e3be7e1f4411"/>
          <a:stretch xmlns:a="http://schemas.openxmlformats.org/drawingml/2006/main">
            <a:fillRect l="0" t="0" r="0" b="0"/>
          </a:stretch>
        </p:blipFill>
        <p:spPr>
          <a:xfrm xmlns:a="http://schemas.openxmlformats.org/drawingml/2006/main">
            <a:off x="9866376" y="3154680"/>
            <a:ext cx="310896" cy="310896"/>
          </a:xfrm>
          <a:prstGeom xmlns:a="http://schemas.openxmlformats.org/drawingml/2006/main" prst="rect">
            <a:avLst/>
          </a:prstGeom>
        </p:spPr>
      </p:pic>
      <p:pic>
        <p:nvPicPr>
          <p:cNvPr id="75" name="Image 4"/>
          <p:cNvPicPr>
            <a:picLocks xmlns:a="http://schemas.openxmlformats.org/drawingml/2006/main" noChangeAspect="1"/>
          </p:cNvPicPr>
          <p:nvPr/>
        </p:nvPicPr>
        <p:blipFill>
          <a:blip xmlns:r="http://schemas.openxmlformats.org/officeDocument/2006/relationships" xmlns:a="http://schemas.openxmlformats.org/drawingml/2006/main" r:embed="R35af2a13b1db421d"/>
          <a:stretch xmlns:a="http://schemas.openxmlformats.org/drawingml/2006/main">
            <a:fillRect l="0" t="0" r="0" b="0"/>
          </a:stretch>
        </p:blipFill>
        <p:spPr>
          <a:xfrm xmlns:a="http://schemas.openxmlformats.org/drawingml/2006/main">
            <a:off x="10396728" y="3154680"/>
            <a:ext cx="310896" cy="310896"/>
          </a:xfrm>
          <a:prstGeom xmlns:a="http://schemas.openxmlformats.org/drawingml/2006/main" prst="rect">
            <a:avLst/>
          </a:prstGeom>
        </p:spPr>
      </p:pic>
      <p:pic>
        <p:nvPicPr>
          <p:cNvPr id="76" name="Image 5"/>
          <p:cNvPicPr>
            <a:picLocks xmlns:a="http://schemas.openxmlformats.org/drawingml/2006/main" noChangeAspect="1"/>
          </p:cNvPicPr>
          <p:nvPr/>
        </p:nvPicPr>
        <p:blipFill>
          <a:blip xmlns:r="http://schemas.openxmlformats.org/officeDocument/2006/relationships" xmlns:a="http://schemas.openxmlformats.org/drawingml/2006/main" r:embed="R4e6ad6711b1b4768"/>
          <a:stretch xmlns:a="http://schemas.openxmlformats.org/drawingml/2006/main">
            <a:fillRect l="0" t="0" r="0" b="0"/>
          </a:stretch>
        </p:blipFill>
        <p:spPr>
          <a:xfrm xmlns:a="http://schemas.openxmlformats.org/drawingml/2006/main">
            <a:off x="10927080" y="3154680"/>
            <a:ext cx="310896" cy="310896"/>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F9D7BE34-0A63-4575-B38F-9F3432FA0106}"/>
              </a:ext>
            </a:extLst>
          </p:cNvPr>
          <p:cNvSpPr>
            <a:spLocks xmlns:a="http://schemas.openxmlformats.org/drawingml/2006/main" noGrp="1"/>
          </p:cNvSpPr>
          <p:nvPr/>
        </p:nvSpPr>
        <p:spPr>
          <a:xfrm xmlns:a="http://schemas.openxmlformats.org/drawingml/2006/main">
            <a:off x="9692640" y="3657600"/>
            <a:ext cx="17190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6233B"/>
                </a:solidFill>
                <a:latin typeface="Calibri"/>
                <a:ea typeface="Calibri"/>
                <a:cs typeface="Calibri"/>
              </a:rPr>
              <a:t>Resources</a:t>
            </a:r>
          </a:p>
        </p:txBody>
      </p:sp>
      <p:sp>
        <p:nvSpPr>
          <p:cNvPr id="34" name="Text 26">
            <a:extLst xmlns:a="http://schemas.openxmlformats.org/drawingml/2006/main">
              <a:ext uri="{FF2B5EF4-FFF2-40B4-BE49-F238E27FC236}">
                <a16:creationId xmlns:a16="http://schemas.microsoft.com/office/drawing/2014/main" id="{25704DBD-3281-4E89-AFB4-90C4F259A5CF}"/>
              </a:ext>
            </a:extLst>
          </p:cNvPr>
          <p:cNvSpPr>
            <a:spLocks xmlns:a="http://schemas.openxmlformats.org/drawingml/2006/main" noGrp="1"/>
          </p:cNvSpPr>
          <p:nvPr/>
        </p:nvSpPr>
        <p:spPr>
          <a:xfrm xmlns:a="http://schemas.openxmlformats.org/drawingml/2006/main">
            <a:off x="9692640" y="3959352"/>
            <a:ext cx="17190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493A6"/>
                </a:solidFill>
                <a:latin typeface="Calibri"/>
                <a:ea typeface="Calibri"/>
                <a:cs typeface="Calibri"/>
              </a:rPr>
              <a:t>GitHub · DB · SaaS</a:t>
            </a:r>
          </a:p>
        </p:txBody>
      </p:sp>
      <p:sp>
        <p:nvSpPr>
          <p:cNvPr id="35" name="Shape 27">
            <a:extLst xmlns:a="http://schemas.openxmlformats.org/drawingml/2006/main">
              <a:ext uri="{FF2B5EF4-FFF2-40B4-BE49-F238E27FC236}">
                <a16:creationId xmlns:a16="http://schemas.microsoft.com/office/drawing/2014/main" id="{83D67B53-08C8-47BC-AEBE-4053E4C38F84}"/>
              </a:ext>
            </a:extLst>
          </p:cNvPr>
          <p:cNvSpPr>
            <a:spLocks xmlns:a="http://schemas.openxmlformats.org/drawingml/2006/main" noGrp="1"/>
          </p:cNvSpPr>
          <p:nvPr/>
        </p:nvSpPr>
        <p:spPr>
          <a:xfrm xmlns:a="http://schemas.openxmlformats.org/drawingml/2006/main">
            <a:off x="2414016" y="3666744"/>
            <a:ext cx="338328" cy="0"/>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36" name="Shape 28">
            <a:extLst xmlns:a="http://schemas.openxmlformats.org/drawingml/2006/main">
              <a:ext uri="{FF2B5EF4-FFF2-40B4-BE49-F238E27FC236}">
                <a16:creationId xmlns:a16="http://schemas.microsoft.com/office/drawing/2014/main" id="{75960839-3115-44FF-87D7-D0DC0706DD1C}"/>
              </a:ext>
            </a:extLst>
          </p:cNvPr>
          <p:cNvSpPr>
            <a:spLocks xmlns:a="http://schemas.openxmlformats.org/drawingml/2006/main" noGrp="1"/>
          </p:cNvSpPr>
          <p:nvPr/>
        </p:nvSpPr>
        <p:spPr>
          <a:xfrm xmlns:a="http://schemas.openxmlformats.org/drawingml/2006/main">
            <a:off x="5907024" y="3666744"/>
            <a:ext cx="896112" cy="0"/>
          </a:xfrm>
          <a:prstGeom xmlns:a="http://schemas.openxmlformats.org/drawingml/2006/main" prst="line">
            <a:avLst/>
          </a:prstGeom>
          <a:noFill xmlns:a="http://schemas.openxmlformats.org/drawingml/2006/main"/>
          <a:ln xmlns:a="http://schemas.openxmlformats.org/drawingml/2006/main" w="25400">
            <a:solidFill>
              <a:srgbClr val="0E8C7F"/>
            </a:solidFill>
            <a:prstDash val="solid"/>
            <a:tailEnd type="triangle"/>
          </a:ln>
        </p:spPr>
      </p:sp>
      <p:sp>
        <p:nvSpPr>
          <p:cNvPr id="37" name="Text 29">
            <a:extLst xmlns:a="http://schemas.openxmlformats.org/drawingml/2006/main">
              <a:ext uri="{FF2B5EF4-FFF2-40B4-BE49-F238E27FC236}">
                <a16:creationId xmlns:a16="http://schemas.microsoft.com/office/drawing/2014/main" id="{BE48FEB1-1D73-4AEF-80CB-90BABE825394}"/>
              </a:ext>
            </a:extLst>
          </p:cNvPr>
          <p:cNvSpPr>
            <a:spLocks xmlns:a="http://schemas.openxmlformats.org/drawingml/2006/main" noGrp="1"/>
          </p:cNvSpPr>
          <p:nvPr/>
        </p:nvSpPr>
        <p:spPr>
          <a:xfrm xmlns:a="http://schemas.openxmlformats.org/drawingml/2006/main">
            <a:off x="5907024" y="3282696"/>
            <a:ext cx="8961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0E8C7F"/>
                </a:solidFill>
                <a:latin typeface="Consolas"/>
                <a:ea typeface="Consolas"/>
                <a:cs typeface="Consolas"/>
              </a:rPr>
              <a:t>resource token</a:t>
            </a:r>
          </a:p>
        </p:txBody>
      </p:sp>
      <p:sp>
        <p:nvSpPr>
          <p:cNvPr id="38" name="Shape 30">
            <a:extLst xmlns:a="http://schemas.openxmlformats.org/drawingml/2006/main">
              <a:ext uri="{FF2B5EF4-FFF2-40B4-BE49-F238E27FC236}">
                <a16:creationId xmlns:a16="http://schemas.microsoft.com/office/drawing/2014/main" id="{B89D6230-3E0F-4B88-83AF-4FB447392DFE}"/>
              </a:ext>
            </a:extLst>
          </p:cNvPr>
          <p:cNvSpPr>
            <a:spLocks xmlns:a="http://schemas.openxmlformats.org/drawingml/2006/main" noGrp="1"/>
          </p:cNvSpPr>
          <p:nvPr/>
        </p:nvSpPr>
        <p:spPr>
          <a:xfrm xmlns:a="http://schemas.openxmlformats.org/drawingml/2006/main">
            <a:off x="9317736" y="3666744"/>
            <a:ext cx="246888" cy="0"/>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39" name="Text 31">
            <a:extLst xmlns:a="http://schemas.openxmlformats.org/drawingml/2006/main">
              <a:ext uri="{FF2B5EF4-FFF2-40B4-BE49-F238E27FC236}">
                <a16:creationId xmlns:a16="http://schemas.microsoft.com/office/drawing/2014/main" id="{CA959F2D-4724-42BF-BC4E-94AC4E92F6BF}"/>
              </a:ext>
            </a:extLst>
          </p:cNvPr>
          <p:cNvSpPr>
            <a:spLocks xmlns:a="http://schemas.openxmlformats.org/drawingml/2006/main" noGrp="1"/>
          </p:cNvSpPr>
          <p:nvPr/>
        </p:nvSpPr>
        <p:spPr>
          <a:xfrm xmlns:a="http://schemas.openxmlformats.org/drawingml/2006/main">
            <a:off x="777240" y="5029200"/>
            <a:ext cx="1063721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6233B"/>
                </a:solidFill>
                <a:latin typeface="Calibri"/>
                <a:ea typeface="Calibri"/>
                <a:cs typeface="Calibri"/>
              </a:rPr>
              <a:t>OAuth 2.1 / OIDC · private-key JWT · SPIFFE · XAA/ID-JAG. Different proofs converge on one resource policy.</a:t>
            </a:r>
          </a:p>
        </p:txBody>
      </p:sp>
    </p:spTree>
    <p:extLst>
      <p:ext uri="{BB962C8B-B14F-4D97-AF65-F5344CB8AC3E}">
        <p14:creationId xmlns:p14="http://schemas.microsoft.com/office/powerpoint/2010/main" val="18050754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8AA3DC-11EE-4D5C-A788-A85327D2B9B8}"/>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LIVE POLICY</a:t>
            </a:r>
          </a:p>
        </p:txBody>
      </p:sp>
      <p:sp>
        <p:nvSpPr>
          <p:cNvPr id="3" name="Text 1">
            <a:extLst xmlns:a="http://schemas.openxmlformats.org/drawingml/2006/main">
              <a:ext uri="{FF2B5EF4-FFF2-40B4-BE49-F238E27FC236}">
                <a16:creationId xmlns:a16="http://schemas.microsoft.com/office/drawing/2014/main" id="{C6C1577D-EF7A-4045-83A3-E4D31D4C78FF}"/>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Policy resolves at the tool boundary</a:t>
            </a:r>
          </a:p>
        </p:txBody>
      </p:sp>
      <p:sp>
        <p:nvSpPr>
          <p:cNvPr id="4" name="Shape 2">
            <a:extLst xmlns:a="http://schemas.openxmlformats.org/drawingml/2006/main">
              <a:ext uri="{FF2B5EF4-FFF2-40B4-BE49-F238E27FC236}">
                <a16:creationId xmlns:a16="http://schemas.microsoft.com/office/drawing/2014/main" id="{109093F3-19EC-46D4-9A46-14F6830275E8}"/>
              </a:ext>
            </a:extLst>
          </p:cNvPr>
          <p:cNvSpPr>
            <a:spLocks xmlns:a="http://schemas.openxmlformats.org/drawingml/2006/main" noGrp="1"/>
          </p:cNvSpPr>
          <p:nvPr/>
        </p:nvSpPr>
        <p:spPr>
          <a:xfrm xmlns:a="http://schemas.openxmlformats.org/drawingml/2006/main">
            <a:off x="777240" y="1874520"/>
            <a:ext cx="3931920"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5" name="Text 3">
            <a:extLst xmlns:a="http://schemas.openxmlformats.org/drawingml/2006/main">
              <a:ext uri="{FF2B5EF4-FFF2-40B4-BE49-F238E27FC236}">
                <a16:creationId xmlns:a16="http://schemas.microsoft.com/office/drawing/2014/main" id="{52171D81-06F5-4DC5-8B9F-715D4F4A7DD6}"/>
              </a:ext>
            </a:extLst>
          </p:cNvPr>
          <p:cNvSpPr>
            <a:spLocks xmlns:a="http://schemas.openxmlformats.org/drawingml/2006/main" noGrp="1"/>
          </p:cNvSpPr>
          <p:nvPr/>
        </p:nvSpPr>
        <p:spPr>
          <a:xfrm xmlns:a="http://schemas.openxmlformats.org/drawingml/2006/main">
            <a:off x="1005840" y="2002536"/>
            <a:ext cx="3566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6233B"/>
                </a:solidFill>
                <a:latin typeface="Calibri"/>
                <a:ea typeface="Calibri"/>
                <a:cs typeface="Calibri"/>
              </a:rPr>
              <a:t>Tool declares a required scope</a:t>
            </a:r>
          </a:p>
        </p:txBody>
      </p:sp>
      <p:sp>
        <p:nvSpPr>
          <p:cNvPr id="6" name="Text 4">
            <a:extLst xmlns:a="http://schemas.openxmlformats.org/drawingml/2006/main">
              <a:ext uri="{FF2B5EF4-FFF2-40B4-BE49-F238E27FC236}">
                <a16:creationId xmlns:a16="http://schemas.microsoft.com/office/drawing/2014/main" id="{6220CFA5-77F4-4982-A067-B05A150DBBD9}"/>
              </a:ext>
            </a:extLst>
          </p:cNvPr>
          <p:cNvSpPr>
            <a:spLocks xmlns:a="http://schemas.openxmlformats.org/drawingml/2006/main" noGrp="1"/>
          </p:cNvSpPr>
          <p:nvPr/>
        </p:nvSpPr>
        <p:spPr>
          <a:xfrm xmlns:a="http://schemas.openxmlformats.org/drawingml/2006/main">
            <a:off x="1005840" y="2331720"/>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A6E63"/>
                </a:solidFill>
                <a:latin typeface="Consolas"/>
                <a:ea typeface="Consolas"/>
                <a:cs typeface="Consolas"/>
              </a:rPr>
              <a:t>list_commits → commits:read</a:t>
            </a:r>
          </a:p>
        </p:txBody>
      </p:sp>
      <p:sp>
        <p:nvSpPr>
          <p:cNvPr id="7" name="Shape 5">
            <a:extLst xmlns:a="http://schemas.openxmlformats.org/drawingml/2006/main">
              <a:ext uri="{FF2B5EF4-FFF2-40B4-BE49-F238E27FC236}">
                <a16:creationId xmlns:a16="http://schemas.microsoft.com/office/drawing/2014/main" id="{CC90F4E1-3BEA-468F-AC4D-1A989988C580}"/>
              </a:ext>
            </a:extLst>
          </p:cNvPr>
          <p:cNvSpPr>
            <a:spLocks xmlns:a="http://schemas.openxmlformats.org/drawingml/2006/main" noGrp="1"/>
          </p:cNvSpPr>
          <p:nvPr/>
        </p:nvSpPr>
        <p:spPr>
          <a:xfrm xmlns:a="http://schemas.openxmlformats.org/drawingml/2006/main">
            <a:off x="777240" y="2880360"/>
            <a:ext cx="3931920"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8" name="Text 6">
            <a:extLst xmlns:a="http://schemas.openxmlformats.org/drawingml/2006/main">
              <a:ext uri="{FF2B5EF4-FFF2-40B4-BE49-F238E27FC236}">
                <a16:creationId xmlns:a16="http://schemas.microsoft.com/office/drawing/2014/main" id="{0B45D5FD-D8C5-4DF6-869B-4F2B443840CA}"/>
              </a:ext>
            </a:extLst>
          </p:cNvPr>
          <p:cNvSpPr>
            <a:spLocks xmlns:a="http://schemas.openxmlformats.org/drawingml/2006/main" noGrp="1"/>
          </p:cNvSpPr>
          <p:nvPr/>
        </p:nvSpPr>
        <p:spPr>
          <a:xfrm xmlns:a="http://schemas.openxmlformats.org/drawingml/2006/main">
            <a:off x="1005840" y="3008376"/>
            <a:ext cx="3566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6233B"/>
                </a:solidFill>
                <a:latin typeface="Calibri"/>
                <a:ea typeface="Calibri"/>
                <a:cs typeface="Calibri"/>
              </a:rPr>
              <a:t>Role grants bounded scopes</a:t>
            </a:r>
          </a:p>
        </p:txBody>
      </p:sp>
      <p:sp>
        <p:nvSpPr>
          <p:cNvPr id="9" name="Text 7">
            <a:extLst xmlns:a="http://schemas.openxmlformats.org/drawingml/2006/main">
              <a:ext uri="{FF2B5EF4-FFF2-40B4-BE49-F238E27FC236}">
                <a16:creationId xmlns:a16="http://schemas.microsoft.com/office/drawing/2014/main" id="{9CF4FBD6-E1AA-4313-A611-4C89C9FAF9B6}"/>
              </a:ext>
            </a:extLst>
          </p:cNvPr>
          <p:cNvSpPr>
            <a:spLocks xmlns:a="http://schemas.openxmlformats.org/drawingml/2006/main" noGrp="1"/>
          </p:cNvSpPr>
          <p:nvPr/>
        </p:nvSpPr>
        <p:spPr>
          <a:xfrm xmlns:a="http://schemas.openxmlformats.org/drawingml/2006/main">
            <a:off x="1005840" y="3337560"/>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A6E63"/>
                </a:solidFill>
                <a:latin typeface="Consolas"/>
                <a:ea typeface="Consolas"/>
                <a:cs typeface="Consolas"/>
              </a:rPr>
              <a:t>Reader → commits:read, repo:read</a:t>
            </a:r>
          </a:p>
        </p:txBody>
      </p:sp>
      <p:sp>
        <p:nvSpPr>
          <p:cNvPr id="10" name="Shape 8">
            <a:extLst xmlns:a="http://schemas.openxmlformats.org/drawingml/2006/main">
              <a:ext uri="{FF2B5EF4-FFF2-40B4-BE49-F238E27FC236}">
                <a16:creationId xmlns:a16="http://schemas.microsoft.com/office/drawing/2014/main" id="{33F611E2-6889-491A-B126-3C68DFC2B41C}"/>
              </a:ext>
            </a:extLst>
          </p:cNvPr>
          <p:cNvSpPr>
            <a:spLocks xmlns:a="http://schemas.openxmlformats.org/drawingml/2006/main" noGrp="1"/>
          </p:cNvSpPr>
          <p:nvPr/>
        </p:nvSpPr>
        <p:spPr>
          <a:xfrm xmlns:a="http://schemas.openxmlformats.org/drawingml/2006/main">
            <a:off x="777240" y="3886200"/>
            <a:ext cx="3931920"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1" name="Text 9">
            <a:extLst xmlns:a="http://schemas.openxmlformats.org/drawingml/2006/main">
              <a:ext uri="{FF2B5EF4-FFF2-40B4-BE49-F238E27FC236}">
                <a16:creationId xmlns:a16="http://schemas.microsoft.com/office/drawing/2014/main" id="{59DAB5A8-8C3C-4E8C-B4CC-598009A2DF03}"/>
              </a:ext>
            </a:extLst>
          </p:cNvPr>
          <p:cNvSpPr>
            <a:spLocks xmlns:a="http://schemas.openxmlformats.org/drawingml/2006/main" noGrp="1"/>
          </p:cNvSpPr>
          <p:nvPr/>
        </p:nvSpPr>
        <p:spPr>
          <a:xfrm xmlns:a="http://schemas.openxmlformats.org/drawingml/2006/main">
            <a:off x="1005840" y="4014216"/>
            <a:ext cx="3566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6233B"/>
                </a:solidFill>
                <a:latin typeface="Calibri"/>
                <a:ea typeface="Calibri"/>
                <a:cs typeface="Calibri"/>
              </a:rPr>
              <a:t>Principal holds the role</a:t>
            </a:r>
          </a:p>
        </p:txBody>
      </p:sp>
      <p:sp>
        <p:nvSpPr>
          <p:cNvPr id="12" name="Text 10">
            <a:extLst xmlns:a="http://schemas.openxmlformats.org/drawingml/2006/main">
              <a:ext uri="{FF2B5EF4-FFF2-40B4-BE49-F238E27FC236}">
                <a16:creationId xmlns:a16="http://schemas.microsoft.com/office/drawing/2014/main" id="{C588AC49-1914-4152-82C9-7F5E44A43BF0}"/>
              </a:ext>
            </a:extLst>
          </p:cNvPr>
          <p:cNvSpPr>
            <a:spLocks xmlns:a="http://schemas.openxmlformats.org/drawingml/2006/main" noGrp="1"/>
          </p:cNvSpPr>
          <p:nvPr/>
        </p:nvSpPr>
        <p:spPr>
          <a:xfrm xmlns:a="http://schemas.openxmlformats.org/drawingml/2006/main">
            <a:off x="1005840" y="4343400"/>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A6E63"/>
                </a:solidFill>
                <a:latin typeface="Consolas"/>
                <a:ea typeface="Consolas"/>
                <a:cs typeface="Consolas"/>
              </a:rPr>
              <a:t>agent → Reader</a:t>
            </a:r>
          </a:p>
        </p:txBody>
      </p:sp>
      <p:sp>
        <p:nvSpPr>
          <p:cNvPr id="13" name="Shape 11">
            <a:extLst xmlns:a="http://schemas.openxmlformats.org/drawingml/2006/main">
              <a:ext uri="{FF2B5EF4-FFF2-40B4-BE49-F238E27FC236}">
                <a16:creationId xmlns:a16="http://schemas.microsoft.com/office/drawing/2014/main" id="{8A8D4E0D-ED25-4B84-9615-E0726EB64CB2}"/>
              </a:ext>
            </a:extLst>
          </p:cNvPr>
          <p:cNvSpPr>
            <a:spLocks xmlns:a="http://schemas.openxmlformats.org/drawingml/2006/main" noGrp="1"/>
          </p:cNvSpPr>
          <p:nvPr/>
        </p:nvSpPr>
        <p:spPr>
          <a:xfrm xmlns:a="http://schemas.openxmlformats.org/drawingml/2006/main">
            <a:off x="5257800" y="2651760"/>
            <a:ext cx="2788920" cy="1417320"/>
          </a:xfrm>
          <a:prstGeom xmlns:a="http://schemas.openxmlformats.org/drawingml/2006/main" prst="roundRect">
            <a:avLst>
              <a:gd name="adj" fmla="val 7097"/>
            </a:avLst>
          </a:prstGeom>
          <a:solidFill xmlns:a="http://schemas.openxmlformats.org/drawingml/2006/main">
            <a:srgbClr val="0E8C7F"/>
          </a:solidFill>
          <a:effectLst xmlns:a="http://schemas.openxmlformats.org/drawingml/2006/main">
            <a:outerShdw blurRad="215900" dist="63500" dir="5400000" sx="100000" sy="100000" kx="0" ky="0" algn="bl" rotWithShape="0">
              <a:srgbClr val="1B2A44">
                <a:alpha val="11000"/>
              </a:srgbClr>
            </a:outerShdw>
          </a:effectLst>
        </p:spPr>
      </p:sp>
      <p:sp>
        <p:nvSpPr>
          <p:cNvPr id="14" name="Shape 12">
            <a:extLst xmlns:a="http://schemas.openxmlformats.org/drawingml/2006/main">
              <a:ext uri="{FF2B5EF4-FFF2-40B4-BE49-F238E27FC236}">
                <a16:creationId xmlns:a16="http://schemas.microsoft.com/office/drawing/2014/main" id="{16E14CBC-EE91-4760-80DA-C47EF90D9156}"/>
              </a:ext>
            </a:extLst>
          </p:cNvPr>
          <p:cNvSpPr>
            <a:spLocks xmlns:a="http://schemas.openxmlformats.org/drawingml/2006/main" noGrp="1"/>
          </p:cNvSpPr>
          <p:nvPr/>
        </p:nvSpPr>
        <p:spPr>
          <a:xfrm xmlns:a="http://schemas.openxmlformats.org/drawingml/2006/main">
            <a:off x="6396228" y="2816352"/>
            <a:ext cx="512064" cy="512064"/>
          </a:xfrm>
          <a:prstGeom xmlns:a="http://schemas.openxmlformats.org/drawingml/2006/main" prst="ellipse">
            <a:avLst/>
          </a:prstGeom>
          <a:solidFill xmlns:a="http://schemas.openxmlformats.org/drawingml/2006/main">
            <a:srgbClr val="FFFFFF"/>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ddd8f894649d4241"/>
          <a:stretch xmlns:a="http://schemas.openxmlformats.org/drawingml/2006/main">
            <a:fillRect l="0" t="0" r="0" b="0"/>
          </a:stretch>
        </p:blipFill>
        <p:spPr>
          <a:xfrm xmlns:a="http://schemas.openxmlformats.org/drawingml/2006/main">
            <a:off x="6524244" y="2944368"/>
            <a:ext cx="256032" cy="256032"/>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26C6F374-E4C6-4FB2-8349-D939408F206D}"/>
              </a:ext>
            </a:extLst>
          </p:cNvPr>
          <p:cNvSpPr>
            <a:spLocks xmlns:a="http://schemas.openxmlformats.org/drawingml/2006/main" noGrp="1"/>
          </p:cNvSpPr>
          <p:nvPr/>
        </p:nvSpPr>
        <p:spPr>
          <a:xfrm xmlns:a="http://schemas.openxmlformats.org/drawingml/2006/main">
            <a:off x="5257800" y="3328416"/>
            <a:ext cx="27889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Live verifier</a:t>
            </a:r>
          </a:p>
        </p:txBody>
      </p:sp>
      <p:sp>
        <p:nvSpPr>
          <p:cNvPr id="17" name="Shape 14">
            <a:extLst xmlns:a="http://schemas.openxmlformats.org/drawingml/2006/main">
              <a:ext uri="{FF2B5EF4-FFF2-40B4-BE49-F238E27FC236}">
                <a16:creationId xmlns:a16="http://schemas.microsoft.com/office/drawing/2014/main" id="{8570F7ED-EFE6-49AE-97BE-3E40172333E6}"/>
              </a:ext>
            </a:extLst>
          </p:cNvPr>
          <p:cNvSpPr>
            <a:spLocks xmlns:a="http://schemas.openxmlformats.org/drawingml/2006/main" noGrp="1"/>
          </p:cNvSpPr>
          <p:nvPr/>
        </p:nvSpPr>
        <p:spPr>
          <a:xfrm xmlns:a="http://schemas.openxmlformats.org/drawingml/2006/main">
            <a:off x="5532120" y="3639312"/>
            <a:ext cx="2240280" cy="347472"/>
          </a:xfrm>
          <a:prstGeom xmlns:a="http://schemas.openxmlformats.org/drawingml/2006/main" prst="roundRect">
            <a:avLst>
              <a:gd name="adj" fmla="val 13158"/>
            </a:avLst>
          </a:prstGeom>
          <a:solidFill xmlns:a="http://schemas.openxmlformats.org/drawingml/2006/main">
            <a:srgbClr val="FFFFFF"/>
          </a:solidFill>
        </p:spPr>
      </p:sp>
      <p:sp>
        <p:nvSpPr>
          <p:cNvPr id="18" name="Text 15">
            <a:extLst xmlns:a="http://schemas.openxmlformats.org/drawingml/2006/main">
              <a:ext uri="{FF2B5EF4-FFF2-40B4-BE49-F238E27FC236}">
                <a16:creationId xmlns:a16="http://schemas.microsoft.com/office/drawing/2014/main" id="{D5F2310A-4896-42BE-9AFC-C3296E9E650B}"/>
              </a:ext>
            </a:extLst>
          </p:cNvPr>
          <p:cNvSpPr>
            <a:spLocks xmlns:a="http://schemas.openxmlformats.org/drawingml/2006/main" noGrp="1"/>
          </p:cNvSpPr>
          <p:nvPr/>
        </p:nvSpPr>
        <p:spPr>
          <a:xfrm xmlns:a="http://schemas.openxmlformats.org/drawingml/2006/main">
            <a:off x="5532120" y="3639312"/>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alibri"/>
                <a:ea typeface="Calibri"/>
                <a:cs typeface="Calibri"/>
              </a:rPr>
              <a:t>JWT + introspection · every call</a:t>
            </a:r>
          </a:p>
        </p:txBody>
      </p:sp>
      <p:sp>
        <p:nvSpPr>
          <p:cNvPr id="19" name="Shape 16">
            <a:extLst xmlns:a="http://schemas.openxmlformats.org/drawingml/2006/main">
              <a:ext uri="{FF2B5EF4-FFF2-40B4-BE49-F238E27FC236}">
                <a16:creationId xmlns:a16="http://schemas.microsoft.com/office/drawing/2014/main" id="{6BEBECA1-B50C-477E-B834-9E2284300C84}"/>
              </a:ext>
            </a:extLst>
          </p:cNvPr>
          <p:cNvSpPr>
            <a:spLocks xmlns:a="http://schemas.openxmlformats.org/drawingml/2006/main" noGrp="1"/>
          </p:cNvSpPr>
          <p:nvPr/>
        </p:nvSpPr>
        <p:spPr>
          <a:xfrm xmlns:a="http://schemas.openxmlformats.org/drawingml/2006/main">
            <a:off x="4818888" y="2295144"/>
            <a:ext cx="384048" cy="1065276"/>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20" name="Shape 17">
            <a:extLst xmlns:a="http://schemas.openxmlformats.org/drawingml/2006/main">
              <a:ext uri="{FF2B5EF4-FFF2-40B4-BE49-F238E27FC236}">
                <a16:creationId xmlns:a16="http://schemas.microsoft.com/office/drawing/2014/main" id="{A9DC22DB-A42A-4DAD-9C78-623CD76C6405}"/>
              </a:ext>
            </a:extLst>
          </p:cNvPr>
          <p:cNvSpPr>
            <a:spLocks xmlns:a="http://schemas.openxmlformats.org/drawingml/2006/main" noGrp="1"/>
          </p:cNvSpPr>
          <p:nvPr/>
        </p:nvSpPr>
        <p:spPr>
          <a:xfrm xmlns:a="http://schemas.openxmlformats.org/drawingml/2006/main">
            <a:off x="4818888" y="3300984"/>
            <a:ext cx="384048" cy="59436"/>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21" name="Shape 18">
            <a:extLst xmlns:a="http://schemas.openxmlformats.org/drawingml/2006/main">
              <a:ext uri="{FF2B5EF4-FFF2-40B4-BE49-F238E27FC236}">
                <a16:creationId xmlns:a16="http://schemas.microsoft.com/office/drawing/2014/main" id="{24BA4594-56BB-4DC8-BDCF-2387439A4427}"/>
              </a:ext>
            </a:extLst>
          </p:cNvPr>
          <p:cNvSpPr>
            <a:spLocks xmlns:a="http://schemas.openxmlformats.org/drawingml/2006/main" noGrp="1"/>
          </p:cNvSpPr>
          <p:nvPr/>
        </p:nvSpPr>
        <p:spPr>
          <a:xfrm xmlns:a="http://schemas.openxmlformats.org/drawingml/2006/main" flipV="1">
            <a:off x="4818888" y="3360420"/>
            <a:ext cx="384048" cy="946404"/>
          </a:xfrm>
          <a:prstGeom xmlns:a="http://schemas.openxmlformats.org/drawingml/2006/main" prst="line">
            <a:avLst/>
          </a:prstGeom>
          <a:noFill xmlns:a="http://schemas.openxmlformats.org/drawingml/2006/main"/>
          <a:ln xmlns:a="http://schemas.openxmlformats.org/drawingml/2006/main" w="25400">
            <a:solidFill>
              <a:srgbClr val="8493A6"/>
            </a:solidFill>
            <a:prstDash val="solid"/>
            <a:tailEnd type="triangle"/>
          </a:ln>
        </p:spPr>
      </p:sp>
      <p:sp>
        <p:nvSpPr>
          <p:cNvPr id="22" name="Shape 19">
            <a:extLst xmlns:a="http://schemas.openxmlformats.org/drawingml/2006/main">
              <a:ext uri="{FF2B5EF4-FFF2-40B4-BE49-F238E27FC236}">
                <a16:creationId xmlns:a16="http://schemas.microsoft.com/office/drawing/2014/main" id="{301E7A36-B85B-4B95-A606-B088FDDD3BB2}"/>
              </a:ext>
            </a:extLst>
          </p:cNvPr>
          <p:cNvSpPr>
            <a:spLocks xmlns:a="http://schemas.openxmlformats.org/drawingml/2006/main" noGrp="1"/>
          </p:cNvSpPr>
          <p:nvPr/>
        </p:nvSpPr>
        <p:spPr>
          <a:xfrm xmlns:a="http://schemas.openxmlformats.org/drawingml/2006/main">
            <a:off x="8732520" y="2331720"/>
            <a:ext cx="2679192" cy="8229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9050">
            <a:solidFill>
              <a:srgbClr val="16A34A"/>
            </a:solidFill>
            <a:prstDash val="solid"/>
          </a:ln>
          <a:effectLst xmlns:a="http://schemas.openxmlformats.org/drawingml/2006/main">
            <a:outerShdw blurRad="127000" dist="38100" dir="5400000" sx="100000" sy="100000" kx="0" ky="0" algn="bl" rotWithShape="0">
              <a:srgbClr val="1B2A44">
                <a:alpha val="10000"/>
              </a:srgbClr>
            </a:outerShdw>
          </a:effectLst>
        </p:spPr>
      </p:sp>
      <p:sp>
        <p:nvSpPr>
          <p:cNvPr id="23" name="Shape 20">
            <a:extLst xmlns:a="http://schemas.openxmlformats.org/drawingml/2006/main">
              <a:ext uri="{FF2B5EF4-FFF2-40B4-BE49-F238E27FC236}">
                <a16:creationId xmlns:a16="http://schemas.microsoft.com/office/drawing/2014/main" id="{B155B2E1-FA82-4EE2-838B-F0AEB7AD8F8B}"/>
              </a:ext>
            </a:extLst>
          </p:cNvPr>
          <p:cNvSpPr>
            <a:spLocks xmlns:a="http://schemas.openxmlformats.org/drawingml/2006/main" noGrp="1"/>
          </p:cNvSpPr>
          <p:nvPr/>
        </p:nvSpPr>
        <p:spPr>
          <a:xfrm xmlns:a="http://schemas.openxmlformats.org/drawingml/2006/main">
            <a:off x="8951976" y="2532888"/>
            <a:ext cx="420624" cy="420624"/>
          </a:xfrm>
          <a:prstGeom xmlns:a="http://schemas.openxmlformats.org/drawingml/2006/main" prst="ellipse">
            <a:avLst/>
          </a:prstGeom>
          <a:solidFill xmlns:a="http://schemas.openxmlformats.org/drawingml/2006/main">
            <a:srgbClr val="16A34A"/>
          </a:solidFill>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8a6421ddd51b4df8"/>
          <a:stretch xmlns:a="http://schemas.openxmlformats.org/drawingml/2006/main">
            <a:fillRect l="0" t="0" r="0" b="0"/>
          </a:stretch>
        </p:blipFill>
        <p:spPr>
          <a:xfrm xmlns:a="http://schemas.openxmlformats.org/drawingml/2006/main">
            <a:off x="9044513" y="2625425"/>
            <a:ext cx="235549" cy="235549"/>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99B5C96E-3EBA-4423-9E76-145CA64DF77C}"/>
              </a:ext>
            </a:extLst>
          </p:cNvPr>
          <p:cNvSpPr>
            <a:spLocks xmlns:a="http://schemas.openxmlformats.org/drawingml/2006/main" noGrp="1"/>
          </p:cNvSpPr>
          <p:nvPr/>
        </p:nvSpPr>
        <p:spPr>
          <a:xfrm xmlns:a="http://schemas.openxmlformats.org/drawingml/2006/main">
            <a:off x="9509760" y="2331720"/>
            <a:ext cx="181051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6233B"/>
                </a:solidFill>
                <a:latin typeface="Calibri"/>
                <a:ea typeface="Calibri"/>
                <a:cs typeface="Calibri"/>
              </a:rPr>
              <a:t>tool runs</a:t>
            </a:r>
          </a:p>
        </p:txBody>
      </p:sp>
      <p:sp>
        <p:nvSpPr>
          <p:cNvPr id="26" name="Shape 22">
            <a:extLst xmlns:a="http://schemas.openxmlformats.org/drawingml/2006/main">
              <a:ext uri="{FF2B5EF4-FFF2-40B4-BE49-F238E27FC236}">
                <a16:creationId xmlns:a16="http://schemas.microsoft.com/office/drawing/2014/main" id="{B86BC3DA-F74D-4878-AF0B-8CAD5EC96649}"/>
              </a:ext>
            </a:extLst>
          </p:cNvPr>
          <p:cNvSpPr>
            <a:spLocks xmlns:a="http://schemas.openxmlformats.org/drawingml/2006/main" noGrp="1"/>
          </p:cNvSpPr>
          <p:nvPr/>
        </p:nvSpPr>
        <p:spPr>
          <a:xfrm xmlns:a="http://schemas.openxmlformats.org/drawingml/2006/main" flipV="1">
            <a:off x="8101584" y="2743200"/>
            <a:ext cx="576072" cy="617220"/>
          </a:xfrm>
          <a:prstGeom xmlns:a="http://schemas.openxmlformats.org/drawingml/2006/main" prst="line">
            <a:avLst/>
          </a:prstGeom>
          <a:noFill xmlns:a="http://schemas.openxmlformats.org/drawingml/2006/main"/>
          <a:ln xmlns:a="http://schemas.openxmlformats.org/drawingml/2006/main" w="25400">
            <a:solidFill>
              <a:srgbClr val="16A34A"/>
            </a:solidFill>
            <a:prstDash val="solid"/>
            <a:tailEnd type="triangle"/>
          </a:ln>
        </p:spPr>
      </p:sp>
      <p:sp>
        <p:nvSpPr>
          <p:cNvPr id="27" name="Shape 23">
            <a:extLst xmlns:a="http://schemas.openxmlformats.org/drawingml/2006/main">
              <a:ext uri="{FF2B5EF4-FFF2-40B4-BE49-F238E27FC236}">
                <a16:creationId xmlns:a16="http://schemas.microsoft.com/office/drawing/2014/main" id="{78379703-4DF0-433D-9757-0F067FB7554F}"/>
              </a:ext>
            </a:extLst>
          </p:cNvPr>
          <p:cNvSpPr>
            <a:spLocks xmlns:a="http://schemas.openxmlformats.org/drawingml/2006/main" noGrp="1"/>
          </p:cNvSpPr>
          <p:nvPr/>
        </p:nvSpPr>
        <p:spPr>
          <a:xfrm xmlns:a="http://schemas.openxmlformats.org/drawingml/2006/main">
            <a:off x="8732520" y="3749040"/>
            <a:ext cx="2679192" cy="8229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9050">
            <a:solidFill>
              <a:srgbClr val="D64550"/>
            </a:solidFill>
            <a:prstDash val="solid"/>
          </a:ln>
          <a:effectLst xmlns:a="http://schemas.openxmlformats.org/drawingml/2006/main">
            <a:outerShdw blurRad="127000" dist="38100" dir="5400000" sx="100000" sy="100000" kx="0" ky="0" algn="bl" rotWithShape="0">
              <a:srgbClr val="1B2A44">
                <a:alpha val="10000"/>
              </a:srgbClr>
            </a:outerShdw>
          </a:effectLst>
        </p:spPr>
      </p:sp>
      <p:sp>
        <p:nvSpPr>
          <p:cNvPr id="28" name="Shape 24">
            <a:extLst xmlns:a="http://schemas.openxmlformats.org/drawingml/2006/main">
              <a:ext uri="{FF2B5EF4-FFF2-40B4-BE49-F238E27FC236}">
                <a16:creationId xmlns:a16="http://schemas.microsoft.com/office/drawing/2014/main" id="{A909ADE2-20DF-4F01-A3C9-F99BC002449F}"/>
              </a:ext>
            </a:extLst>
          </p:cNvPr>
          <p:cNvSpPr>
            <a:spLocks xmlns:a="http://schemas.openxmlformats.org/drawingml/2006/main" noGrp="1"/>
          </p:cNvSpPr>
          <p:nvPr/>
        </p:nvSpPr>
        <p:spPr>
          <a:xfrm xmlns:a="http://schemas.openxmlformats.org/drawingml/2006/main">
            <a:off x="8951976" y="3950208"/>
            <a:ext cx="420624" cy="420624"/>
          </a:xfrm>
          <a:prstGeom xmlns:a="http://schemas.openxmlformats.org/drawingml/2006/main" prst="ellipse">
            <a:avLst/>
          </a:prstGeom>
          <a:solidFill xmlns:a="http://schemas.openxmlformats.org/drawingml/2006/main">
            <a:srgbClr val="D64550"/>
          </a:solidFill>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7674634602d44093"/>
          <a:stretch xmlns:a="http://schemas.openxmlformats.org/drawingml/2006/main">
            <a:fillRect l="0" t="0" r="0" b="0"/>
          </a:stretch>
        </p:blipFill>
        <p:spPr>
          <a:xfrm xmlns:a="http://schemas.openxmlformats.org/drawingml/2006/main">
            <a:off x="9044513" y="4042745"/>
            <a:ext cx="235549" cy="235549"/>
          </a:xfrm>
          <a:prstGeom xmlns:a="http://schemas.openxmlformats.org/drawingml/2006/main" prst="rect">
            <a:avLst/>
          </a:prstGeom>
        </p:spPr>
      </p:pic>
      <p:sp>
        <p:nvSpPr>
          <p:cNvPr id="30" name="Text 25">
            <a:extLst xmlns:a="http://schemas.openxmlformats.org/drawingml/2006/main">
              <a:ext uri="{FF2B5EF4-FFF2-40B4-BE49-F238E27FC236}">
                <a16:creationId xmlns:a16="http://schemas.microsoft.com/office/drawing/2014/main" id="{D4C31F96-30E4-436F-B0F3-55D1E30A9D79}"/>
              </a:ext>
            </a:extLst>
          </p:cNvPr>
          <p:cNvSpPr>
            <a:spLocks xmlns:a="http://schemas.openxmlformats.org/drawingml/2006/main" noGrp="1"/>
          </p:cNvSpPr>
          <p:nvPr/>
        </p:nvSpPr>
        <p:spPr>
          <a:xfrm xmlns:a="http://schemas.openxmlformats.org/drawingml/2006/main">
            <a:off x="9509760" y="3749040"/>
            <a:ext cx="181051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6233B"/>
                </a:solidFill>
                <a:latin typeface="Calibri"/>
                <a:ea typeface="Calibri"/>
                <a:cs typeface="Calibri"/>
              </a:rPr>
              <a:t>denied — mid-token</a:t>
            </a:r>
          </a:p>
        </p:txBody>
      </p:sp>
      <p:sp>
        <p:nvSpPr>
          <p:cNvPr id="31" name="Shape 26">
            <a:extLst xmlns:a="http://schemas.openxmlformats.org/drawingml/2006/main">
              <a:ext uri="{FF2B5EF4-FFF2-40B4-BE49-F238E27FC236}">
                <a16:creationId xmlns:a16="http://schemas.microsoft.com/office/drawing/2014/main" id="{6012AE6E-18E6-4C0F-8D28-0893C5DF9B42}"/>
              </a:ext>
            </a:extLst>
          </p:cNvPr>
          <p:cNvSpPr>
            <a:spLocks xmlns:a="http://schemas.openxmlformats.org/drawingml/2006/main" noGrp="1"/>
          </p:cNvSpPr>
          <p:nvPr/>
        </p:nvSpPr>
        <p:spPr>
          <a:xfrm xmlns:a="http://schemas.openxmlformats.org/drawingml/2006/main">
            <a:off x="8101584" y="3360420"/>
            <a:ext cx="576072" cy="800100"/>
          </a:xfrm>
          <a:prstGeom xmlns:a="http://schemas.openxmlformats.org/drawingml/2006/main" prst="line">
            <a:avLst/>
          </a:prstGeom>
          <a:noFill xmlns:a="http://schemas.openxmlformats.org/drawingml/2006/main"/>
          <a:ln xmlns:a="http://schemas.openxmlformats.org/drawingml/2006/main" w="25400">
            <a:solidFill>
              <a:srgbClr val="D64550"/>
            </a:solidFill>
            <a:prstDash val="solid"/>
            <a:tailEnd type="triangle"/>
          </a:ln>
        </p:spPr>
      </p:sp>
      <p:sp>
        <p:nvSpPr>
          <p:cNvPr id="32" name="Shape 27">
            <a:extLst xmlns:a="http://schemas.openxmlformats.org/drawingml/2006/main">
              <a:ext uri="{FF2B5EF4-FFF2-40B4-BE49-F238E27FC236}">
                <a16:creationId xmlns:a16="http://schemas.microsoft.com/office/drawing/2014/main" id="{A1CBA68C-17A0-4FA0-9C84-C6AEC21F5A22}"/>
              </a:ext>
            </a:extLst>
          </p:cNvPr>
          <p:cNvSpPr>
            <a:spLocks xmlns:a="http://schemas.openxmlformats.org/drawingml/2006/main" noGrp="1"/>
          </p:cNvSpPr>
          <p:nvPr/>
        </p:nvSpPr>
        <p:spPr>
          <a:xfrm xmlns:a="http://schemas.openxmlformats.org/drawingml/2006/main">
            <a:off x="777240" y="5166360"/>
            <a:ext cx="10637215" cy="1005840"/>
          </a:xfrm>
          <a:prstGeom xmlns:a="http://schemas.openxmlformats.org/drawingml/2006/main" prst="roundRect">
            <a:avLst>
              <a:gd name="adj" fmla="val 9091"/>
            </a:avLst>
          </a:prstGeom>
          <a:solidFill xmlns:a="http://schemas.openxmlformats.org/drawingml/2006/main">
            <a:srgbClr val="E9F6F4"/>
          </a:solidFill>
        </p:spPr>
      </p:sp>
      <p:sp>
        <p:nvSpPr>
          <p:cNvPr id="33" name="Text 28">
            <a:extLst xmlns:a="http://schemas.openxmlformats.org/drawingml/2006/main">
              <a:ext uri="{FF2B5EF4-FFF2-40B4-BE49-F238E27FC236}">
                <a16:creationId xmlns:a16="http://schemas.microsoft.com/office/drawing/2014/main" id="{37847630-6041-4E86-AEBE-DC8DE6EA9E25}"/>
              </a:ext>
            </a:extLst>
          </p:cNvPr>
          <p:cNvSpPr>
            <a:spLocks xmlns:a="http://schemas.openxmlformats.org/drawingml/2006/main" noGrp="1"/>
          </p:cNvSpPr>
          <p:nvPr/>
        </p:nvSpPr>
        <p:spPr>
          <a:xfrm xmlns:a="http://schemas.openxmlformats.org/drawingml/2006/main">
            <a:off x="1097280" y="5166360"/>
            <a:ext cx="999713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400" b="1">
                <a:solidFill>
                  <a:srgbClr val="0A6E63"/>
                </a:solidFill>
                <a:latin typeface="Calibri"/>
                <a:ea typeface="Calibri"/>
                <a:cs typeface="Calibri"/>
              </a:rPr>
              <a:t>Decision = principal × role × tool scope × live grant. Miss the scope and the tool disappears; revoke the grant and the next call fails before token expiry.</a:t>
            </a:r>
          </a:p>
        </p:txBody>
      </p:sp>
    </p:spTree>
    <p:extLst>
      <p:ext uri="{BB962C8B-B14F-4D97-AF65-F5344CB8AC3E}">
        <p14:creationId xmlns:p14="http://schemas.microsoft.com/office/powerpoint/2010/main" val="12668251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E6D51A-65AC-41CA-88F3-2122DCD64D17}"/>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DELEGATION PROOF</a:t>
            </a:r>
          </a:p>
        </p:txBody>
      </p:sp>
      <p:sp>
        <p:nvSpPr>
          <p:cNvPr id="3" name="Text 1">
            <a:extLst xmlns:a="http://schemas.openxmlformats.org/drawingml/2006/main">
              <a:ext uri="{FF2B5EF4-FFF2-40B4-BE49-F238E27FC236}">
                <a16:creationId xmlns:a16="http://schemas.microsoft.com/office/drawing/2014/main" id="{09AC8969-D21F-42D9-B5FE-AE5828A443C5}"/>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The token preserves subject and actor</a:t>
            </a:r>
          </a:p>
        </p:txBody>
      </p:sp>
      <p:sp>
        <p:nvSpPr>
          <p:cNvPr id="4" name="Text 2">
            <a:extLst xmlns:a="http://schemas.openxmlformats.org/drawingml/2006/main">
              <a:ext uri="{FF2B5EF4-FFF2-40B4-BE49-F238E27FC236}">
                <a16:creationId xmlns:a16="http://schemas.microsoft.com/office/drawing/2014/main" id="{BA6B8A9B-7CB2-4DD4-AEB6-A96A28E73C08}"/>
              </a:ext>
            </a:extLst>
          </p:cNvPr>
          <p:cNvSpPr>
            <a:spLocks xmlns:a="http://schemas.openxmlformats.org/drawingml/2006/main" noGrp="1"/>
          </p:cNvSpPr>
          <p:nvPr/>
        </p:nvSpPr>
        <p:spPr>
          <a:xfrm xmlns:a="http://schemas.openxmlformats.org/drawingml/2006/main">
            <a:off x="777240" y="1481328"/>
            <a:ext cx="1063721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493A6"/>
                </a:solidFill>
                <a:latin typeface="Calibri"/>
                <a:ea typeface="Calibri"/>
                <a:cs typeface="Calibri"/>
              </a:rPr>
              <a:t>The resource can see the user, the agent acting, the target, the granted tools, and the revocation handle.</a:t>
            </a:r>
          </a:p>
        </p:txBody>
      </p:sp>
      <p:sp>
        <p:nvSpPr>
          <p:cNvPr id="5" name="Shape 3">
            <a:extLst xmlns:a="http://schemas.openxmlformats.org/drawingml/2006/main">
              <a:ext uri="{FF2B5EF4-FFF2-40B4-BE49-F238E27FC236}">
                <a16:creationId xmlns:a16="http://schemas.microsoft.com/office/drawing/2014/main" id="{073101B0-F908-497C-A460-FF2F97D69DEC}"/>
              </a:ext>
            </a:extLst>
          </p:cNvPr>
          <p:cNvSpPr>
            <a:spLocks xmlns:a="http://schemas.openxmlformats.org/drawingml/2006/main" noGrp="1"/>
          </p:cNvSpPr>
          <p:nvPr/>
        </p:nvSpPr>
        <p:spPr>
          <a:xfrm xmlns:a="http://schemas.openxmlformats.org/drawingml/2006/main">
            <a:off x="777240" y="2057400"/>
            <a:ext cx="6172200" cy="3657600"/>
          </a:xfrm>
          <a:prstGeom xmlns:a="http://schemas.openxmlformats.org/drawingml/2006/main" prst="roundRect">
            <a:avLst>
              <a:gd name="adj" fmla="val 2500"/>
            </a:avLst>
          </a:prstGeom>
          <a:solidFill xmlns:a="http://schemas.openxmlformats.org/drawingml/2006/main">
            <a:srgbClr val="0E1A2C"/>
          </a:solidFill>
          <a:effectLst xmlns:a="http://schemas.openxmlformats.org/drawingml/2006/main">
            <a:outerShdw blurRad="215900" dist="63500" dir="5400000" sx="100000" sy="100000" kx="0" ky="0" algn="bl" rotWithShape="0">
              <a:srgbClr val="1B2A44">
                <a:alpha val="11000"/>
              </a:srgbClr>
            </a:outerShdw>
          </a:effectLst>
        </p:spPr>
      </p:sp>
      <p:sp>
        <p:nvSpPr>
          <p:cNvPr id="6" name="Shape 4">
            <a:extLst xmlns:a="http://schemas.openxmlformats.org/drawingml/2006/main">
              <a:ext uri="{FF2B5EF4-FFF2-40B4-BE49-F238E27FC236}">
                <a16:creationId xmlns:a16="http://schemas.microsoft.com/office/drawing/2014/main" id="{D7122765-5BFC-4D92-9B3B-48000F57A367}"/>
              </a:ext>
            </a:extLst>
          </p:cNvPr>
          <p:cNvSpPr>
            <a:spLocks xmlns:a="http://schemas.openxmlformats.org/drawingml/2006/main" noGrp="1"/>
          </p:cNvSpPr>
          <p:nvPr/>
        </p:nvSpPr>
        <p:spPr>
          <a:xfrm xmlns:a="http://schemas.openxmlformats.org/drawingml/2006/main">
            <a:off x="1088136" y="2331720"/>
            <a:ext cx="128016" cy="128016"/>
          </a:xfrm>
          <a:prstGeom xmlns:a="http://schemas.openxmlformats.org/drawingml/2006/main" prst="ellipse">
            <a:avLst/>
          </a:prstGeom>
          <a:solidFill xmlns:a="http://schemas.openxmlformats.org/drawingml/2006/main">
            <a:srgbClr val="FF5F57"/>
          </a:solidFill>
        </p:spPr>
      </p:sp>
      <p:sp>
        <p:nvSpPr>
          <p:cNvPr id="7" name="Shape 5">
            <a:extLst xmlns:a="http://schemas.openxmlformats.org/drawingml/2006/main">
              <a:ext uri="{FF2B5EF4-FFF2-40B4-BE49-F238E27FC236}">
                <a16:creationId xmlns:a16="http://schemas.microsoft.com/office/drawing/2014/main" id="{B3B29F60-553F-4704-B151-9B8606476E91}"/>
              </a:ext>
            </a:extLst>
          </p:cNvPr>
          <p:cNvSpPr>
            <a:spLocks xmlns:a="http://schemas.openxmlformats.org/drawingml/2006/main" noGrp="1"/>
          </p:cNvSpPr>
          <p:nvPr/>
        </p:nvSpPr>
        <p:spPr>
          <a:xfrm xmlns:a="http://schemas.openxmlformats.org/drawingml/2006/main">
            <a:off x="1325880" y="2331720"/>
            <a:ext cx="128016" cy="128016"/>
          </a:xfrm>
          <a:prstGeom xmlns:a="http://schemas.openxmlformats.org/drawingml/2006/main" prst="ellipse">
            <a:avLst/>
          </a:prstGeom>
          <a:solidFill xmlns:a="http://schemas.openxmlformats.org/drawingml/2006/main">
            <a:srgbClr val="FEBC2E"/>
          </a:solidFill>
        </p:spPr>
      </p:sp>
      <p:sp>
        <p:nvSpPr>
          <p:cNvPr id="8" name="Shape 6">
            <a:extLst xmlns:a="http://schemas.openxmlformats.org/drawingml/2006/main">
              <a:ext uri="{FF2B5EF4-FFF2-40B4-BE49-F238E27FC236}">
                <a16:creationId xmlns:a16="http://schemas.microsoft.com/office/drawing/2014/main" id="{9E3F724F-187C-4C8A-98F8-27AE64732FEC}"/>
              </a:ext>
            </a:extLst>
          </p:cNvPr>
          <p:cNvSpPr>
            <a:spLocks xmlns:a="http://schemas.openxmlformats.org/drawingml/2006/main" noGrp="1"/>
          </p:cNvSpPr>
          <p:nvPr/>
        </p:nvSpPr>
        <p:spPr>
          <a:xfrm xmlns:a="http://schemas.openxmlformats.org/drawingml/2006/main">
            <a:off x="1563624" y="2331720"/>
            <a:ext cx="128016" cy="128016"/>
          </a:xfrm>
          <a:prstGeom xmlns:a="http://schemas.openxmlformats.org/drawingml/2006/main" prst="ellipse">
            <a:avLst/>
          </a:prstGeom>
          <a:solidFill xmlns:a="http://schemas.openxmlformats.org/drawingml/2006/main">
            <a:srgbClr val="28C840"/>
          </a:solidFill>
        </p:spPr>
      </p:sp>
      <p:sp>
        <p:nvSpPr>
          <p:cNvPr id="9" name="Text 7">
            <a:extLst xmlns:a="http://schemas.openxmlformats.org/drawingml/2006/main">
              <a:ext uri="{FF2B5EF4-FFF2-40B4-BE49-F238E27FC236}">
                <a16:creationId xmlns:a16="http://schemas.microsoft.com/office/drawing/2014/main" id="{2E6892A4-616E-4CA1-B1C0-944B2C027342}"/>
              </a:ext>
            </a:extLst>
          </p:cNvPr>
          <p:cNvSpPr>
            <a:spLocks xmlns:a="http://schemas.openxmlformats.org/drawingml/2006/main" noGrp="1"/>
          </p:cNvSpPr>
          <p:nvPr/>
        </p:nvSpPr>
        <p:spPr>
          <a:xfrm xmlns:a="http://schemas.openxmlformats.org/drawingml/2006/main">
            <a:off x="2057400" y="224028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a:solidFill>
                  <a:srgbClr val="6E7F95"/>
                </a:solidFill>
                <a:latin typeface="Consolas"/>
                <a:ea typeface="Consolas"/>
                <a:cs typeface="Consolas"/>
              </a:rPr>
              <a:t>access_token · decoded</a:t>
            </a:r>
          </a:p>
        </p:txBody>
      </p:sp>
      <p:sp>
        <p:nvSpPr>
          <p:cNvPr id="10" name="Shape 8">
            <a:extLst xmlns:a="http://schemas.openxmlformats.org/drawingml/2006/main">
              <a:ext uri="{FF2B5EF4-FFF2-40B4-BE49-F238E27FC236}">
                <a16:creationId xmlns:a16="http://schemas.microsoft.com/office/drawing/2014/main" id="{30554763-52A1-48EE-97E2-200B6DCBC73F}"/>
              </a:ext>
            </a:extLst>
          </p:cNvPr>
          <p:cNvSpPr>
            <a:spLocks xmlns:a="http://schemas.openxmlformats.org/drawingml/2006/main" noGrp="1"/>
          </p:cNvSpPr>
          <p:nvPr/>
        </p:nvSpPr>
        <p:spPr>
          <a:xfrm xmlns:a="http://schemas.openxmlformats.org/drawingml/2006/main">
            <a:off x="960120" y="3017520"/>
            <a:ext cx="5806440" cy="320040"/>
          </a:xfrm>
          <a:prstGeom xmlns:a="http://schemas.openxmlformats.org/drawingml/2006/main" prst="roundRect">
            <a:avLst>
              <a:gd name="adj" fmla="val 8571"/>
            </a:avLst>
          </a:prstGeom>
          <a:solidFill xmlns:a="http://schemas.openxmlformats.org/drawingml/2006/main">
            <a:srgbClr val="12303C"/>
          </a:solidFill>
        </p:spPr>
      </p:sp>
      <p:sp>
        <p:nvSpPr>
          <p:cNvPr id="11" name="Shape 9">
            <a:extLst xmlns:a="http://schemas.openxmlformats.org/drawingml/2006/main">
              <a:ext uri="{FF2B5EF4-FFF2-40B4-BE49-F238E27FC236}">
                <a16:creationId xmlns:a16="http://schemas.microsoft.com/office/drawing/2014/main" id="{E36F4F8C-5E88-463E-B897-F9B55119A078}"/>
              </a:ext>
            </a:extLst>
          </p:cNvPr>
          <p:cNvSpPr>
            <a:spLocks xmlns:a="http://schemas.openxmlformats.org/drawingml/2006/main" noGrp="1"/>
          </p:cNvSpPr>
          <p:nvPr/>
        </p:nvSpPr>
        <p:spPr>
          <a:xfrm xmlns:a="http://schemas.openxmlformats.org/drawingml/2006/main">
            <a:off x="960120" y="3337560"/>
            <a:ext cx="5806440" cy="320040"/>
          </a:xfrm>
          <a:prstGeom xmlns:a="http://schemas.openxmlformats.org/drawingml/2006/main" prst="roundRect">
            <a:avLst>
              <a:gd name="adj" fmla="val 8571"/>
            </a:avLst>
          </a:prstGeom>
          <a:solidFill xmlns:a="http://schemas.openxmlformats.org/drawingml/2006/main">
            <a:srgbClr val="12303C"/>
          </a:solidFill>
        </p:spPr>
      </p:sp>
      <p:sp>
        <p:nvSpPr>
          <p:cNvPr id="12" name="Text 10">
            <a:extLst xmlns:a="http://schemas.openxmlformats.org/drawingml/2006/main">
              <a:ext uri="{FF2B5EF4-FFF2-40B4-BE49-F238E27FC236}">
                <a16:creationId xmlns:a16="http://schemas.microsoft.com/office/drawing/2014/main" id="{A7220758-DFFC-4D82-99DF-40246A06C610}"/>
              </a:ext>
            </a:extLst>
          </p:cNvPr>
          <p:cNvSpPr>
            <a:spLocks xmlns:a="http://schemas.openxmlformats.org/drawingml/2006/main" noGrp="1"/>
          </p:cNvSpPr>
          <p:nvPr/>
        </p:nvSpPr>
        <p:spPr>
          <a:xfrm xmlns:a="http://schemas.openxmlformats.org/drawingml/2006/main">
            <a:off x="1097280" y="271576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598AD"/>
                </a:solidFill>
                <a:latin typeface="Consolas"/>
                <a:ea typeface="Consolas"/>
                <a:cs typeface="Consolas"/>
              </a:rPr>
              <a:t>{</a:t>
            </a:r>
          </a:p>
        </p:txBody>
      </p:sp>
      <p:sp>
        <p:nvSpPr>
          <p:cNvPr id="13" name="Text 11">
            <a:extLst xmlns:a="http://schemas.openxmlformats.org/drawingml/2006/main">
              <a:ext uri="{FF2B5EF4-FFF2-40B4-BE49-F238E27FC236}">
                <a16:creationId xmlns:a16="http://schemas.microsoft.com/office/drawing/2014/main" id="{49C2B6E7-BD11-41C8-A590-FFBB05F8F2F8}"/>
              </a:ext>
            </a:extLst>
          </p:cNvPr>
          <p:cNvSpPr>
            <a:spLocks xmlns:a="http://schemas.openxmlformats.org/drawingml/2006/main" noGrp="1"/>
          </p:cNvSpPr>
          <p:nvPr/>
        </p:nvSpPr>
        <p:spPr>
          <a:xfrm xmlns:a="http://schemas.openxmlformats.org/drawingml/2006/main">
            <a:off x="1097280" y="303580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"sub"</a:t>
            </a:r>
            <a:r>
              <a:rPr sz="1250">
                <a:solidFill>
                  <a:srgbClr val="8598AD"/>
                </a:solidFill>
                <a:latin typeface="Consolas"/>
                <a:ea typeface="Consolas"/>
                <a:cs typeface="Consolas"/>
              </a:rPr>
              <a:t>:   </a:t>
            </a:r>
            <a:r>
              <a:rPr sz="1250">
                <a:solidFill>
                  <a:srgbClr val="CAD8E8"/>
                </a:solidFill>
                <a:latin typeface="Consolas"/>
                <a:ea typeface="Consolas"/>
                <a:cs typeface="Consolas"/>
              </a:rPr>
              <a:t>"u_9a3f… (Alice)"</a:t>
            </a:r>
            <a:r>
              <a:rPr sz="1250">
                <a:solidFill>
                  <a:srgbClr val="8598AD"/>
                </a:solidFill>
                <a:latin typeface="Consolas"/>
                <a:ea typeface="Consolas"/>
                <a:cs typeface="Consolas"/>
              </a:rPr>
              <a:t>,</a:t>
            </a:r>
          </a:p>
        </p:txBody>
      </p:sp>
      <p:sp>
        <p:nvSpPr>
          <p:cNvPr id="14" name="Text 12">
            <a:extLst xmlns:a="http://schemas.openxmlformats.org/drawingml/2006/main">
              <a:ext uri="{FF2B5EF4-FFF2-40B4-BE49-F238E27FC236}">
                <a16:creationId xmlns:a16="http://schemas.microsoft.com/office/drawing/2014/main" id="{5C4B9313-3F61-4B89-803F-4DB90A2275F6}"/>
              </a:ext>
            </a:extLst>
          </p:cNvPr>
          <p:cNvSpPr>
            <a:spLocks xmlns:a="http://schemas.openxmlformats.org/drawingml/2006/main" noGrp="1"/>
          </p:cNvSpPr>
          <p:nvPr/>
        </p:nvSpPr>
        <p:spPr>
          <a:xfrm xmlns:a="http://schemas.openxmlformats.org/drawingml/2006/main">
            <a:off x="1097280" y="335584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"act"</a:t>
            </a:r>
            <a:r>
              <a:rPr sz="1250">
                <a:solidFill>
                  <a:srgbClr val="8598AD"/>
                </a:solidFill>
                <a:latin typeface="Consolas"/>
                <a:ea typeface="Consolas"/>
                <a:cs typeface="Consolas"/>
              </a:rPr>
              <a:t>:   { </a:t>
            </a:r>
            <a:r>
              <a:rPr sz="1250">
                <a:solidFill>
                  <a:srgbClr val="45D9C9"/>
                </a:solidFill>
                <a:latin typeface="Consolas"/>
                <a:ea typeface="Consolas"/>
                <a:cs typeface="Consolas"/>
              </a:rPr>
              <a:t>"client_id"</a:t>
            </a:r>
            <a:r>
              <a:rPr sz="1250">
                <a:solidFill>
                  <a:srgbClr val="8598AD"/>
                </a:solidFill>
                <a:latin typeface="Consolas"/>
                <a:ea typeface="Consolas"/>
                <a:cs typeface="Consolas"/>
              </a:rPr>
              <a:t>: </a:t>
            </a:r>
            <a:r>
              <a:rPr sz="1250">
                <a:solidFill>
                  <a:srgbClr val="CAD8E8"/>
                </a:solidFill>
                <a:latin typeface="Consolas"/>
                <a:ea typeface="Consolas"/>
                <a:cs typeface="Consolas"/>
              </a:rPr>
              <a:t>"repo-assistant"</a:t>
            </a:r>
            <a:r>
              <a:rPr sz="1250">
                <a:solidFill>
                  <a:srgbClr val="8598AD"/>
                </a:solidFill>
                <a:latin typeface="Consolas"/>
                <a:ea typeface="Consolas"/>
                <a:cs typeface="Consolas"/>
              </a:rPr>
              <a:t> },</a:t>
            </a:r>
          </a:p>
        </p:txBody>
      </p:sp>
      <p:sp>
        <p:nvSpPr>
          <p:cNvPr id="15" name="Text 13">
            <a:extLst xmlns:a="http://schemas.openxmlformats.org/drawingml/2006/main">
              <a:ext uri="{FF2B5EF4-FFF2-40B4-BE49-F238E27FC236}">
                <a16:creationId xmlns:a16="http://schemas.microsoft.com/office/drawing/2014/main" id="{6E8A708B-98A6-4513-BCDA-46261A62F66E}"/>
              </a:ext>
            </a:extLst>
          </p:cNvPr>
          <p:cNvSpPr>
            <a:spLocks xmlns:a="http://schemas.openxmlformats.org/drawingml/2006/main" noGrp="1"/>
          </p:cNvSpPr>
          <p:nvPr/>
        </p:nvSpPr>
        <p:spPr>
          <a:xfrm xmlns:a="http://schemas.openxmlformats.org/drawingml/2006/main">
            <a:off x="1097280" y="367588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"tf"</a:t>
            </a:r>
            <a:r>
              <a:rPr sz="1250">
                <a:solidFill>
                  <a:srgbClr val="8598AD"/>
                </a:solidFill>
                <a:latin typeface="Consolas"/>
                <a:ea typeface="Consolas"/>
                <a:cs typeface="Consolas"/>
              </a:rPr>
              <a:t>:    </a:t>
            </a:r>
            <a:r>
              <a:rPr sz="1250">
                <a:solidFill>
                  <a:srgbClr val="CAD8E8"/>
                </a:solidFill>
                <a:latin typeface="Consolas"/>
                <a:ea typeface="Consolas"/>
                <a:cs typeface="Consolas"/>
              </a:rPr>
              <a:t>"xaa"</a:t>
            </a:r>
            <a:r>
              <a:rPr sz="1250">
                <a:solidFill>
                  <a:srgbClr val="8598AD"/>
                </a:solidFill>
                <a:latin typeface="Consolas"/>
                <a:ea typeface="Consolas"/>
                <a:cs typeface="Consolas"/>
              </a:rPr>
              <a:t>,</a:t>
            </a:r>
          </a:p>
        </p:txBody>
      </p:sp>
      <p:sp>
        <p:nvSpPr>
          <p:cNvPr id="16" name="Text 14">
            <a:extLst xmlns:a="http://schemas.openxmlformats.org/drawingml/2006/main">
              <a:ext uri="{FF2B5EF4-FFF2-40B4-BE49-F238E27FC236}">
                <a16:creationId xmlns:a16="http://schemas.microsoft.com/office/drawing/2014/main" id="{C2A2699E-44E3-4360-ABD6-C859A2CAEEB3}"/>
              </a:ext>
            </a:extLst>
          </p:cNvPr>
          <p:cNvSpPr>
            <a:spLocks xmlns:a="http://schemas.openxmlformats.org/drawingml/2006/main" noGrp="1"/>
          </p:cNvSpPr>
          <p:nvPr/>
        </p:nvSpPr>
        <p:spPr>
          <a:xfrm xmlns:a="http://schemas.openxmlformats.org/drawingml/2006/main">
            <a:off x="1097280" y="399592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"aud"</a:t>
            </a:r>
            <a:r>
              <a:rPr sz="1250">
                <a:solidFill>
                  <a:srgbClr val="8598AD"/>
                </a:solidFill>
                <a:latin typeface="Consolas"/>
                <a:ea typeface="Consolas"/>
                <a:cs typeface="Consolas"/>
              </a:rPr>
              <a:t>:   </a:t>
            </a:r>
            <a:r>
              <a:rPr sz="1250">
                <a:solidFill>
                  <a:srgbClr val="CAD8E8"/>
                </a:solidFill>
                <a:latin typeface="Consolas"/>
                <a:ea typeface="Consolas"/>
                <a:cs typeface="Consolas"/>
              </a:rPr>
              <a:t>"…mcpauthz.com/mcp"</a:t>
            </a:r>
            <a:r>
              <a:rPr sz="1250">
                <a:solidFill>
                  <a:srgbClr val="8598AD"/>
                </a:solidFill>
                <a:latin typeface="Consolas"/>
                <a:ea typeface="Consolas"/>
                <a:cs typeface="Consolas"/>
              </a:rPr>
              <a:t>,</a:t>
            </a:r>
          </a:p>
        </p:txBody>
      </p:sp>
      <p:sp>
        <p:nvSpPr>
          <p:cNvPr id="17" name="Text 15">
            <a:extLst xmlns:a="http://schemas.openxmlformats.org/drawingml/2006/main">
              <a:ext uri="{FF2B5EF4-FFF2-40B4-BE49-F238E27FC236}">
                <a16:creationId xmlns:a16="http://schemas.microsoft.com/office/drawing/2014/main" id="{C2EA01B7-7C8A-474B-94A9-A951A86F5BDF}"/>
              </a:ext>
            </a:extLst>
          </p:cNvPr>
          <p:cNvSpPr>
            <a:spLocks xmlns:a="http://schemas.openxmlformats.org/drawingml/2006/main" noGrp="1"/>
          </p:cNvSpPr>
          <p:nvPr/>
        </p:nvSpPr>
        <p:spPr>
          <a:xfrm xmlns:a="http://schemas.openxmlformats.org/drawingml/2006/main">
            <a:off x="1097280" y="431596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"scope"</a:t>
            </a:r>
            <a:r>
              <a:rPr sz="1250">
                <a:solidFill>
                  <a:srgbClr val="8598AD"/>
                </a:solidFill>
                <a:latin typeface="Consolas"/>
                <a:ea typeface="Consolas"/>
                <a:cs typeface="Consolas"/>
              </a:rPr>
              <a:t>: </a:t>
            </a:r>
            <a:r>
              <a:rPr sz="1250">
                <a:solidFill>
                  <a:srgbClr val="CAD8E8"/>
                </a:solidFill>
                <a:latin typeface="Consolas"/>
                <a:ea typeface="Consolas"/>
                <a:cs typeface="Consolas"/>
              </a:rPr>
              <a:t>"commits:read repo:read"</a:t>
            </a:r>
            <a:r>
              <a:rPr sz="1250">
                <a:solidFill>
                  <a:srgbClr val="8598AD"/>
                </a:solidFill>
                <a:latin typeface="Consolas"/>
                <a:ea typeface="Consolas"/>
                <a:cs typeface="Consolas"/>
              </a:rPr>
              <a:t>,</a:t>
            </a:r>
          </a:p>
        </p:txBody>
      </p:sp>
      <p:sp>
        <p:nvSpPr>
          <p:cNvPr id="18" name="Text 16">
            <a:extLst xmlns:a="http://schemas.openxmlformats.org/drawingml/2006/main">
              <a:ext uri="{FF2B5EF4-FFF2-40B4-BE49-F238E27FC236}">
                <a16:creationId xmlns:a16="http://schemas.microsoft.com/office/drawing/2014/main" id="{682CB79F-7562-472E-875F-E6A41689CE05}"/>
              </a:ext>
            </a:extLst>
          </p:cNvPr>
          <p:cNvSpPr>
            <a:spLocks xmlns:a="http://schemas.openxmlformats.org/drawingml/2006/main" noGrp="1"/>
          </p:cNvSpPr>
          <p:nvPr/>
        </p:nvSpPr>
        <p:spPr>
          <a:xfrm xmlns:a="http://schemas.openxmlformats.org/drawingml/2006/main">
            <a:off x="1097280" y="463600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"jti"</a:t>
            </a:r>
            <a:r>
              <a:rPr sz="1250">
                <a:solidFill>
                  <a:srgbClr val="8598AD"/>
                </a:solidFill>
                <a:latin typeface="Consolas"/>
                <a:ea typeface="Consolas"/>
                <a:cs typeface="Consolas"/>
              </a:rPr>
              <a:t>:   </a:t>
            </a:r>
            <a:r>
              <a:rPr sz="1250">
                <a:solidFill>
                  <a:srgbClr val="CAD8E8"/>
                </a:solidFill>
                <a:latin typeface="Consolas"/>
                <a:ea typeface="Consolas"/>
                <a:cs typeface="Consolas"/>
              </a:rPr>
              <a:t>"tok_b7c9e2…"</a:t>
            </a:r>
            <a:r>
              <a:rPr sz="1250">
                <a:solidFill>
                  <a:srgbClr val="8598AD"/>
                </a:solidFill>
                <a:latin typeface="Consolas"/>
                <a:ea typeface="Consolas"/>
                <a:cs typeface="Consolas"/>
              </a:rPr>
              <a:t>,</a:t>
            </a:r>
          </a:p>
        </p:txBody>
      </p:sp>
      <p:sp>
        <p:nvSpPr>
          <p:cNvPr id="19" name="Text 17">
            <a:extLst xmlns:a="http://schemas.openxmlformats.org/drawingml/2006/main">
              <a:ext uri="{FF2B5EF4-FFF2-40B4-BE49-F238E27FC236}">
                <a16:creationId xmlns:a16="http://schemas.microsoft.com/office/drawing/2014/main" id="{45A4D29B-A814-400B-874A-EE48AF7A64A1}"/>
              </a:ext>
            </a:extLst>
          </p:cNvPr>
          <p:cNvSpPr>
            <a:spLocks xmlns:a="http://schemas.openxmlformats.org/drawingml/2006/main" noGrp="1"/>
          </p:cNvSpPr>
          <p:nvPr/>
        </p:nvSpPr>
        <p:spPr>
          <a:xfrm xmlns:a="http://schemas.openxmlformats.org/drawingml/2006/main">
            <a:off x="1097280" y="495604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D9C9"/>
                </a:solidFill>
                <a:latin typeface="Consolas"/>
                <a:ea typeface="Consolas"/>
                <a:cs typeface="Consolas"/>
              </a:rPr>
              <a:t>  "exp"</a:t>
            </a:r>
            <a:r>
              <a:rPr sz="1250">
                <a:solidFill>
                  <a:srgbClr val="8598AD"/>
                </a:solidFill>
                <a:latin typeface="Consolas"/>
                <a:ea typeface="Consolas"/>
                <a:cs typeface="Consolas"/>
              </a:rPr>
              <a:t>:   </a:t>
            </a:r>
            <a:r>
              <a:rPr sz="1250">
                <a:solidFill>
                  <a:srgbClr val="CAD8E8"/>
                </a:solidFill>
                <a:latin typeface="Consolas"/>
                <a:ea typeface="Consolas"/>
                <a:cs typeface="Consolas"/>
              </a:rPr>
              <a:t>1721584920</a:t>
            </a:r>
          </a:p>
        </p:txBody>
      </p:sp>
      <p:sp>
        <p:nvSpPr>
          <p:cNvPr id="20" name="Text 18">
            <a:extLst xmlns:a="http://schemas.openxmlformats.org/drawingml/2006/main">
              <a:ext uri="{FF2B5EF4-FFF2-40B4-BE49-F238E27FC236}">
                <a16:creationId xmlns:a16="http://schemas.microsoft.com/office/drawing/2014/main" id="{6B6E00D8-5B1E-4691-A294-E439A424423E}"/>
              </a:ext>
            </a:extLst>
          </p:cNvPr>
          <p:cNvSpPr>
            <a:spLocks xmlns:a="http://schemas.openxmlformats.org/drawingml/2006/main" noGrp="1"/>
          </p:cNvSpPr>
          <p:nvPr/>
        </p:nvSpPr>
        <p:spPr>
          <a:xfrm xmlns:a="http://schemas.openxmlformats.org/drawingml/2006/main">
            <a:off x="1097280" y="5276088"/>
            <a:ext cx="5623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598AD"/>
                </a:solidFill>
                <a:latin typeface="Consolas"/>
                <a:ea typeface="Consolas"/>
                <a:cs typeface="Consolas"/>
              </a:rPr>
              <a:t>}</a:t>
            </a:r>
          </a:p>
        </p:txBody>
      </p:sp>
      <p:sp>
        <p:nvSpPr>
          <p:cNvPr id="21" name="Shape 19">
            <a:extLst xmlns:a="http://schemas.openxmlformats.org/drawingml/2006/main">
              <a:ext uri="{FF2B5EF4-FFF2-40B4-BE49-F238E27FC236}">
                <a16:creationId xmlns:a16="http://schemas.microsoft.com/office/drawing/2014/main" id="{A025A8F1-F165-4D75-80A7-8CDA331E419A}"/>
              </a:ext>
            </a:extLst>
          </p:cNvPr>
          <p:cNvSpPr>
            <a:spLocks xmlns:a="http://schemas.openxmlformats.org/drawingml/2006/main" noGrp="1"/>
          </p:cNvSpPr>
          <p:nvPr/>
        </p:nvSpPr>
        <p:spPr>
          <a:xfrm xmlns:a="http://schemas.openxmlformats.org/drawingml/2006/main">
            <a:off x="7269480" y="2194560"/>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22" name="Text 20">
            <a:extLst xmlns:a="http://schemas.openxmlformats.org/drawingml/2006/main">
              <a:ext uri="{FF2B5EF4-FFF2-40B4-BE49-F238E27FC236}">
                <a16:creationId xmlns:a16="http://schemas.microsoft.com/office/drawing/2014/main" id="{A294E00C-55B3-47CE-B6E3-857F3C27ECEE}"/>
              </a:ext>
            </a:extLst>
          </p:cNvPr>
          <p:cNvSpPr>
            <a:spLocks xmlns:a="http://schemas.openxmlformats.org/drawingml/2006/main" noGrp="1"/>
          </p:cNvSpPr>
          <p:nvPr/>
        </p:nvSpPr>
        <p:spPr>
          <a:xfrm xmlns:a="http://schemas.openxmlformats.org/drawingml/2006/main">
            <a:off x="7269480" y="2194560"/>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sub</a:t>
            </a:r>
          </a:p>
        </p:txBody>
      </p:sp>
      <p:sp>
        <p:nvSpPr>
          <p:cNvPr id="23" name="Text 21">
            <a:extLst xmlns:a="http://schemas.openxmlformats.org/drawingml/2006/main">
              <a:ext uri="{FF2B5EF4-FFF2-40B4-BE49-F238E27FC236}">
                <a16:creationId xmlns:a16="http://schemas.microsoft.com/office/drawing/2014/main" id="{E90C7B6E-E038-4812-8F0D-2C260BAA5006}"/>
              </a:ext>
            </a:extLst>
          </p:cNvPr>
          <p:cNvSpPr>
            <a:spLocks xmlns:a="http://schemas.openxmlformats.org/drawingml/2006/main" noGrp="1"/>
          </p:cNvSpPr>
          <p:nvPr/>
        </p:nvSpPr>
        <p:spPr>
          <a:xfrm xmlns:a="http://schemas.openxmlformats.org/drawingml/2006/main">
            <a:off x="8705088" y="2176272"/>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the human on whose behalf</a:t>
            </a:r>
          </a:p>
        </p:txBody>
      </p:sp>
      <p:sp>
        <p:nvSpPr>
          <p:cNvPr id="24" name="Shape 22">
            <a:extLst xmlns:a="http://schemas.openxmlformats.org/drawingml/2006/main">
              <a:ext uri="{FF2B5EF4-FFF2-40B4-BE49-F238E27FC236}">
                <a16:creationId xmlns:a16="http://schemas.microsoft.com/office/drawing/2014/main" id="{8FF2C36F-839F-483D-95C9-CE207EA1331A}"/>
              </a:ext>
            </a:extLst>
          </p:cNvPr>
          <p:cNvSpPr>
            <a:spLocks xmlns:a="http://schemas.openxmlformats.org/drawingml/2006/main" noGrp="1"/>
          </p:cNvSpPr>
          <p:nvPr/>
        </p:nvSpPr>
        <p:spPr>
          <a:xfrm xmlns:a="http://schemas.openxmlformats.org/drawingml/2006/main">
            <a:off x="7269480" y="2747772"/>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25" name="Text 23">
            <a:extLst xmlns:a="http://schemas.openxmlformats.org/drawingml/2006/main">
              <a:ext uri="{FF2B5EF4-FFF2-40B4-BE49-F238E27FC236}">
                <a16:creationId xmlns:a16="http://schemas.microsoft.com/office/drawing/2014/main" id="{2756C9AD-6559-4DC2-AE10-71CCD1690B80}"/>
              </a:ext>
            </a:extLst>
          </p:cNvPr>
          <p:cNvSpPr>
            <a:spLocks xmlns:a="http://schemas.openxmlformats.org/drawingml/2006/main" noGrp="1"/>
          </p:cNvSpPr>
          <p:nvPr/>
        </p:nvSpPr>
        <p:spPr>
          <a:xfrm xmlns:a="http://schemas.openxmlformats.org/drawingml/2006/main">
            <a:off x="7269480" y="2747772"/>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act</a:t>
            </a:r>
          </a:p>
        </p:txBody>
      </p:sp>
      <p:sp>
        <p:nvSpPr>
          <p:cNvPr id="26" name="Text 24">
            <a:extLst xmlns:a="http://schemas.openxmlformats.org/drawingml/2006/main">
              <a:ext uri="{FF2B5EF4-FFF2-40B4-BE49-F238E27FC236}">
                <a16:creationId xmlns:a16="http://schemas.microsoft.com/office/drawing/2014/main" id="{416A70CA-013B-4D36-AFF9-472398467685}"/>
              </a:ext>
            </a:extLst>
          </p:cNvPr>
          <p:cNvSpPr>
            <a:spLocks xmlns:a="http://schemas.openxmlformats.org/drawingml/2006/main" noGrp="1"/>
          </p:cNvSpPr>
          <p:nvPr/>
        </p:nvSpPr>
        <p:spPr>
          <a:xfrm xmlns:a="http://schemas.openxmlformats.org/drawingml/2006/main">
            <a:off x="8705088" y="2729484"/>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the agent actually calling</a:t>
            </a:r>
          </a:p>
        </p:txBody>
      </p:sp>
      <p:sp>
        <p:nvSpPr>
          <p:cNvPr id="27" name="Shape 25">
            <a:extLst xmlns:a="http://schemas.openxmlformats.org/drawingml/2006/main">
              <a:ext uri="{FF2B5EF4-FFF2-40B4-BE49-F238E27FC236}">
                <a16:creationId xmlns:a16="http://schemas.microsoft.com/office/drawing/2014/main" id="{3EE1BAB2-E786-449A-9590-3B9A82E2ADE5}"/>
              </a:ext>
            </a:extLst>
          </p:cNvPr>
          <p:cNvSpPr>
            <a:spLocks xmlns:a="http://schemas.openxmlformats.org/drawingml/2006/main" noGrp="1"/>
          </p:cNvSpPr>
          <p:nvPr/>
        </p:nvSpPr>
        <p:spPr>
          <a:xfrm xmlns:a="http://schemas.openxmlformats.org/drawingml/2006/main">
            <a:off x="7269480" y="3300984"/>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28" name="Text 26">
            <a:extLst xmlns:a="http://schemas.openxmlformats.org/drawingml/2006/main">
              <a:ext uri="{FF2B5EF4-FFF2-40B4-BE49-F238E27FC236}">
                <a16:creationId xmlns:a16="http://schemas.microsoft.com/office/drawing/2014/main" id="{6525EBB8-AC47-41B1-AE00-2618AA08C7C6}"/>
              </a:ext>
            </a:extLst>
          </p:cNvPr>
          <p:cNvSpPr>
            <a:spLocks xmlns:a="http://schemas.openxmlformats.org/drawingml/2006/main" noGrp="1"/>
          </p:cNvSpPr>
          <p:nvPr/>
        </p:nvSpPr>
        <p:spPr>
          <a:xfrm xmlns:a="http://schemas.openxmlformats.org/drawingml/2006/main">
            <a:off x="7269480" y="3300984"/>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tf: xaa</a:t>
            </a:r>
          </a:p>
        </p:txBody>
      </p:sp>
      <p:sp>
        <p:nvSpPr>
          <p:cNvPr id="29" name="Text 27">
            <a:extLst xmlns:a="http://schemas.openxmlformats.org/drawingml/2006/main">
              <a:ext uri="{FF2B5EF4-FFF2-40B4-BE49-F238E27FC236}">
                <a16:creationId xmlns:a16="http://schemas.microsoft.com/office/drawing/2014/main" id="{CBED1DC2-E620-4C43-B924-9894DC3E7549}"/>
              </a:ext>
            </a:extLst>
          </p:cNvPr>
          <p:cNvSpPr>
            <a:spLocks xmlns:a="http://schemas.openxmlformats.org/drawingml/2006/main" noGrp="1"/>
          </p:cNvSpPr>
          <p:nvPr/>
        </p:nvSpPr>
        <p:spPr>
          <a:xfrm xmlns:a="http://schemas.openxmlformats.org/drawingml/2006/main">
            <a:off x="8705088" y="3282696"/>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ID-JAG / XAA profile</a:t>
            </a:r>
          </a:p>
        </p:txBody>
      </p:sp>
      <p:sp>
        <p:nvSpPr>
          <p:cNvPr id="30" name="Shape 28">
            <a:extLst xmlns:a="http://schemas.openxmlformats.org/drawingml/2006/main">
              <a:ext uri="{FF2B5EF4-FFF2-40B4-BE49-F238E27FC236}">
                <a16:creationId xmlns:a16="http://schemas.microsoft.com/office/drawing/2014/main" id="{BCDD64BA-D68E-419B-A0C2-584C3A8CD3CC}"/>
              </a:ext>
            </a:extLst>
          </p:cNvPr>
          <p:cNvSpPr>
            <a:spLocks xmlns:a="http://schemas.openxmlformats.org/drawingml/2006/main" noGrp="1"/>
          </p:cNvSpPr>
          <p:nvPr/>
        </p:nvSpPr>
        <p:spPr>
          <a:xfrm xmlns:a="http://schemas.openxmlformats.org/drawingml/2006/main">
            <a:off x="7269480" y="3854196"/>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31" name="Text 29">
            <a:extLst xmlns:a="http://schemas.openxmlformats.org/drawingml/2006/main">
              <a:ext uri="{FF2B5EF4-FFF2-40B4-BE49-F238E27FC236}">
                <a16:creationId xmlns:a16="http://schemas.microsoft.com/office/drawing/2014/main" id="{D634EB5D-54F0-493D-AC9E-3FEE4811359D}"/>
              </a:ext>
            </a:extLst>
          </p:cNvPr>
          <p:cNvSpPr>
            <a:spLocks xmlns:a="http://schemas.openxmlformats.org/drawingml/2006/main" noGrp="1"/>
          </p:cNvSpPr>
          <p:nvPr/>
        </p:nvSpPr>
        <p:spPr>
          <a:xfrm xmlns:a="http://schemas.openxmlformats.org/drawingml/2006/main">
            <a:off x="7269480" y="3854196"/>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aud</a:t>
            </a:r>
          </a:p>
        </p:txBody>
      </p:sp>
      <p:sp>
        <p:nvSpPr>
          <p:cNvPr id="32" name="Text 30">
            <a:extLst xmlns:a="http://schemas.openxmlformats.org/drawingml/2006/main">
              <a:ext uri="{FF2B5EF4-FFF2-40B4-BE49-F238E27FC236}">
                <a16:creationId xmlns:a16="http://schemas.microsoft.com/office/drawing/2014/main" id="{865D889A-F972-47E8-9311-A368B5B5FA2E}"/>
              </a:ext>
            </a:extLst>
          </p:cNvPr>
          <p:cNvSpPr>
            <a:spLocks xmlns:a="http://schemas.openxmlformats.org/drawingml/2006/main" noGrp="1"/>
          </p:cNvSpPr>
          <p:nvPr/>
        </p:nvSpPr>
        <p:spPr>
          <a:xfrm xmlns:a="http://schemas.openxmlformats.org/drawingml/2006/main">
            <a:off x="8705088" y="3835908"/>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locked to this one resource</a:t>
            </a:r>
          </a:p>
        </p:txBody>
      </p:sp>
      <p:sp>
        <p:nvSpPr>
          <p:cNvPr id="33" name="Shape 31">
            <a:extLst xmlns:a="http://schemas.openxmlformats.org/drawingml/2006/main">
              <a:ext uri="{FF2B5EF4-FFF2-40B4-BE49-F238E27FC236}">
                <a16:creationId xmlns:a16="http://schemas.microsoft.com/office/drawing/2014/main" id="{61279917-4D17-447F-81E2-4F3F49DCD563}"/>
              </a:ext>
            </a:extLst>
          </p:cNvPr>
          <p:cNvSpPr>
            <a:spLocks xmlns:a="http://schemas.openxmlformats.org/drawingml/2006/main" noGrp="1"/>
          </p:cNvSpPr>
          <p:nvPr/>
        </p:nvSpPr>
        <p:spPr>
          <a:xfrm xmlns:a="http://schemas.openxmlformats.org/drawingml/2006/main">
            <a:off x="7269480" y="4407408"/>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34" name="Text 32">
            <a:extLst xmlns:a="http://schemas.openxmlformats.org/drawingml/2006/main">
              <a:ext uri="{FF2B5EF4-FFF2-40B4-BE49-F238E27FC236}">
                <a16:creationId xmlns:a16="http://schemas.microsoft.com/office/drawing/2014/main" id="{B4518FF5-7FE5-4F7F-B8DD-F92C6286197F}"/>
              </a:ext>
            </a:extLst>
          </p:cNvPr>
          <p:cNvSpPr>
            <a:spLocks xmlns:a="http://schemas.openxmlformats.org/drawingml/2006/main" noGrp="1"/>
          </p:cNvSpPr>
          <p:nvPr/>
        </p:nvSpPr>
        <p:spPr>
          <a:xfrm xmlns:a="http://schemas.openxmlformats.org/drawingml/2006/main">
            <a:off x="7269480" y="4407408"/>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scope</a:t>
            </a:r>
          </a:p>
        </p:txBody>
      </p:sp>
      <p:sp>
        <p:nvSpPr>
          <p:cNvPr id="35" name="Text 33">
            <a:extLst xmlns:a="http://schemas.openxmlformats.org/drawingml/2006/main">
              <a:ext uri="{FF2B5EF4-FFF2-40B4-BE49-F238E27FC236}">
                <a16:creationId xmlns:a16="http://schemas.microsoft.com/office/drawing/2014/main" id="{73294ED8-92EC-47F3-9422-A602328F8324}"/>
              </a:ext>
            </a:extLst>
          </p:cNvPr>
          <p:cNvSpPr>
            <a:spLocks xmlns:a="http://schemas.openxmlformats.org/drawingml/2006/main" noGrp="1"/>
          </p:cNvSpPr>
          <p:nvPr/>
        </p:nvSpPr>
        <p:spPr>
          <a:xfrm xmlns:a="http://schemas.openxmlformats.org/drawingml/2006/main">
            <a:off x="8705088" y="4389120"/>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limited to these tools</a:t>
            </a:r>
          </a:p>
        </p:txBody>
      </p:sp>
      <p:sp>
        <p:nvSpPr>
          <p:cNvPr id="36" name="Shape 34">
            <a:extLst xmlns:a="http://schemas.openxmlformats.org/drawingml/2006/main">
              <a:ext uri="{FF2B5EF4-FFF2-40B4-BE49-F238E27FC236}">
                <a16:creationId xmlns:a16="http://schemas.microsoft.com/office/drawing/2014/main" id="{3CAACE56-998F-47D3-8A98-8A92B24ABD91}"/>
              </a:ext>
            </a:extLst>
          </p:cNvPr>
          <p:cNvSpPr>
            <a:spLocks xmlns:a="http://schemas.openxmlformats.org/drawingml/2006/main" noGrp="1"/>
          </p:cNvSpPr>
          <p:nvPr/>
        </p:nvSpPr>
        <p:spPr>
          <a:xfrm xmlns:a="http://schemas.openxmlformats.org/drawingml/2006/main">
            <a:off x="7269480" y="4960620"/>
            <a:ext cx="1234440" cy="365760"/>
          </a:xfrm>
          <a:prstGeom xmlns:a="http://schemas.openxmlformats.org/drawingml/2006/main" prst="roundRect">
            <a:avLst>
              <a:gd name="adj" fmla="val 12500"/>
            </a:avLst>
          </a:prstGeom>
          <a:solidFill xmlns:a="http://schemas.openxmlformats.org/drawingml/2006/main">
            <a:srgbClr val="E9F6F4"/>
          </a:solidFill>
        </p:spPr>
      </p:sp>
      <p:sp>
        <p:nvSpPr>
          <p:cNvPr id="37" name="Text 35">
            <a:extLst xmlns:a="http://schemas.openxmlformats.org/drawingml/2006/main">
              <a:ext uri="{FF2B5EF4-FFF2-40B4-BE49-F238E27FC236}">
                <a16:creationId xmlns:a16="http://schemas.microsoft.com/office/drawing/2014/main" id="{C1F802A7-9CFA-48A1-BDE7-94B11A63D2B9}"/>
              </a:ext>
            </a:extLst>
          </p:cNvPr>
          <p:cNvSpPr>
            <a:spLocks xmlns:a="http://schemas.openxmlformats.org/drawingml/2006/main" noGrp="1"/>
          </p:cNvSpPr>
          <p:nvPr/>
        </p:nvSpPr>
        <p:spPr>
          <a:xfrm xmlns:a="http://schemas.openxmlformats.org/drawingml/2006/main">
            <a:off x="7269480" y="4960620"/>
            <a:ext cx="1234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A6E63"/>
                </a:solidFill>
                <a:latin typeface="Consolas"/>
                <a:ea typeface="Consolas"/>
                <a:cs typeface="Consolas"/>
              </a:rPr>
              <a:t>jti</a:t>
            </a:r>
          </a:p>
        </p:txBody>
      </p:sp>
      <p:sp>
        <p:nvSpPr>
          <p:cNvPr id="38" name="Text 36">
            <a:extLst xmlns:a="http://schemas.openxmlformats.org/drawingml/2006/main">
              <a:ext uri="{FF2B5EF4-FFF2-40B4-BE49-F238E27FC236}">
                <a16:creationId xmlns:a16="http://schemas.microsoft.com/office/drawing/2014/main" id="{4FE8D1AB-85E2-4948-A4B6-8F37DB68D7F0}"/>
              </a:ext>
            </a:extLst>
          </p:cNvPr>
          <p:cNvSpPr>
            <a:spLocks xmlns:a="http://schemas.openxmlformats.org/drawingml/2006/main" noGrp="1"/>
          </p:cNvSpPr>
          <p:nvPr/>
        </p:nvSpPr>
        <p:spPr>
          <a:xfrm xmlns:a="http://schemas.openxmlformats.org/drawingml/2006/main">
            <a:off x="8705088" y="4942332"/>
            <a:ext cx="270936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45566E"/>
                </a:solidFill>
                <a:latin typeface="Calibri"/>
                <a:ea typeface="Calibri"/>
                <a:cs typeface="Calibri"/>
              </a:rPr>
              <a:t>live revocation handle</a:t>
            </a:r>
          </a:p>
        </p:txBody>
      </p:sp>
    </p:spTree>
    <p:extLst>
      <p:ext uri="{BB962C8B-B14F-4D97-AF65-F5344CB8AC3E}">
        <p14:creationId xmlns:p14="http://schemas.microsoft.com/office/powerpoint/2010/main" val="5660206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ADDD9B-B71B-41AF-929F-E1A50E99ACF7}"/>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LIVE AUTHORIZATION</a:t>
            </a:r>
          </a:p>
        </p:txBody>
      </p:sp>
      <p:sp>
        <p:nvSpPr>
          <p:cNvPr id="3" name="Text 1">
            <a:extLst xmlns:a="http://schemas.openxmlformats.org/drawingml/2006/main">
              <a:ext uri="{FF2B5EF4-FFF2-40B4-BE49-F238E27FC236}">
                <a16:creationId xmlns:a16="http://schemas.microsoft.com/office/drawing/2014/main" id="{4D96F803-4E4C-4BCA-A3BF-19C182D1209A}"/>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Revocation beats token lifetime</a:t>
            </a:r>
          </a:p>
        </p:txBody>
      </p:sp>
      <p:sp>
        <p:nvSpPr>
          <p:cNvPr id="4" name="Text 2">
            <a:extLst xmlns:a="http://schemas.openxmlformats.org/drawingml/2006/main">
              <a:ext uri="{FF2B5EF4-FFF2-40B4-BE49-F238E27FC236}">
                <a16:creationId xmlns:a16="http://schemas.microsoft.com/office/drawing/2014/main" id="{705E4B26-1906-4156-A7C1-E6B130B448AD}"/>
              </a:ext>
            </a:extLst>
          </p:cNvPr>
          <p:cNvSpPr>
            <a:spLocks xmlns:a="http://schemas.openxmlformats.org/drawingml/2006/main" noGrp="1"/>
          </p:cNvSpPr>
          <p:nvPr/>
        </p:nvSpPr>
        <p:spPr>
          <a:xfrm xmlns:a="http://schemas.openxmlformats.org/drawingml/2006/main">
            <a:off x="1188720" y="2706624"/>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6233B"/>
                </a:solidFill>
                <a:latin typeface="Calibri"/>
                <a:ea typeface="Calibri"/>
                <a:cs typeface="Calibri"/>
              </a:rPr>
              <a:t>Token issued</a:t>
            </a:r>
          </a:p>
        </p:txBody>
      </p:sp>
      <p:sp>
        <p:nvSpPr>
          <p:cNvPr id="5" name="Text 3">
            <a:extLst xmlns:a="http://schemas.openxmlformats.org/drawingml/2006/main">
              <a:ext uri="{FF2B5EF4-FFF2-40B4-BE49-F238E27FC236}">
                <a16:creationId xmlns:a16="http://schemas.microsoft.com/office/drawing/2014/main" id="{23F960C3-D1FE-40D9-A757-B684FE1F700B}"/>
              </a:ext>
            </a:extLst>
          </p:cNvPr>
          <p:cNvSpPr>
            <a:spLocks xmlns:a="http://schemas.openxmlformats.org/drawingml/2006/main" noGrp="1"/>
          </p:cNvSpPr>
          <p:nvPr/>
        </p:nvSpPr>
        <p:spPr>
          <a:xfrm xmlns:a="http://schemas.openxmlformats.org/drawingml/2006/main">
            <a:off x="1188720" y="2953512"/>
            <a:ext cx="1828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493A6"/>
                </a:solidFill>
                <a:latin typeface="Consolas"/>
                <a:ea typeface="Consolas"/>
                <a:cs typeface="Consolas"/>
              </a:rPr>
              <a:t>+0 min</a:t>
            </a:r>
          </a:p>
        </p:txBody>
      </p:sp>
      <p:sp>
        <p:nvSpPr>
          <p:cNvPr id="6" name="Text 4">
            <a:extLst xmlns:a="http://schemas.openxmlformats.org/drawingml/2006/main">
              <a:ext uri="{FF2B5EF4-FFF2-40B4-BE49-F238E27FC236}">
                <a16:creationId xmlns:a16="http://schemas.microsoft.com/office/drawing/2014/main" id="{026BE53C-EB1B-406F-9C7D-7D171994D6B2}"/>
              </a:ext>
            </a:extLst>
          </p:cNvPr>
          <p:cNvSpPr>
            <a:spLocks xmlns:a="http://schemas.openxmlformats.org/drawingml/2006/main" noGrp="1"/>
          </p:cNvSpPr>
          <p:nvPr/>
        </p:nvSpPr>
        <p:spPr>
          <a:xfrm xmlns:a="http://schemas.openxmlformats.org/drawingml/2006/main">
            <a:off x="8805672" y="2706624"/>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16233B"/>
                </a:solidFill>
                <a:latin typeface="Calibri"/>
                <a:ea typeface="Calibri"/>
                <a:cs typeface="Calibri"/>
              </a:rPr>
              <a:t>Expires</a:t>
            </a:r>
          </a:p>
        </p:txBody>
      </p:sp>
      <p:sp>
        <p:nvSpPr>
          <p:cNvPr id="7" name="Text 5">
            <a:extLst xmlns:a="http://schemas.openxmlformats.org/drawingml/2006/main">
              <a:ext uri="{FF2B5EF4-FFF2-40B4-BE49-F238E27FC236}">
                <a16:creationId xmlns:a16="http://schemas.microsoft.com/office/drawing/2014/main" id="{2C9ADEDD-98A7-4769-B10F-335CCFA8A709}"/>
              </a:ext>
            </a:extLst>
          </p:cNvPr>
          <p:cNvSpPr>
            <a:spLocks xmlns:a="http://schemas.openxmlformats.org/drawingml/2006/main" noGrp="1"/>
          </p:cNvSpPr>
          <p:nvPr/>
        </p:nvSpPr>
        <p:spPr>
          <a:xfrm xmlns:a="http://schemas.openxmlformats.org/drawingml/2006/main">
            <a:off x="8805672" y="2953512"/>
            <a:ext cx="2194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8493A6"/>
                </a:solidFill>
                <a:latin typeface="Consolas"/>
                <a:ea typeface="Consolas"/>
                <a:cs typeface="Consolas"/>
              </a:rPr>
              <a:t>+15 min</a:t>
            </a:r>
          </a:p>
        </p:txBody>
      </p:sp>
      <p:sp>
        <p:nvSpPr>
          <p:cNvPr id="8" name="Shape 6">
            <a:extLst xmlns:a="http://schemas.openxmlformats.org/drawingml/2006/main">
              <a:ext uri="{FF2B5EF4-FFF2-40B4-BE49-F238E27FC236}">
                <a16:creationId xmlns:a16="http://schemas.microsoft.com/office/drawing/2014/main" id="{C498B45B-757A-4F40-9860-029034C10F10}"/>
              </a:ext>
            </a:extLst>
          </p:cNvPr>
          <p:cNvSpPr>
            <a:spLocks xmlns:a="http://schemas.openxmlformats.org/drawingml/2006/main" noGrp="1"/>
          </p:cNvSpPr>
          <p:nvPr/>
        </p:nvSpPr>
        <p:spPr>
          <a:xfrm xmlns:a="http://schemas.openxmlformats.org/drawingml/2006/main">
            <a:off x="1234440" y="3291840"/>
            <a:ext cx="9720072" cy="457200"/>
          </a:xfrm>
          <a:prstGeom xmlns:a="http://schemas.openxmlformats.org/drawingml/2006/main" prst="roundRect">
            <a:avLst>
              <a:gd name="adj" fmla="val 20000"/>
            </a:avLst>
          </a:prstGeom>
          <a:solidFill xmlns:a="http://schemas.openxmlformats.org/drawingml/2006/main">
            <a:srgbClr val="0E8C7F"/>
          </a:solidFill>
          <a:effectLst xmlns:a="http://schemas.openxmlformats.org/drawingml/2006/main">
            <a:outerShdw blurRad="127000" dist="38100" dir="5400000" sx="100000" sy="100000" kx="0" ky="0" algn="bl" rotWithShape="0">
              <a:srgbClr val="1B2A44">
                <a:alpha val="10000"/>
              </a:srgbClr>
            </a:outerShdw>
          </a:effectLst>
        </p:spPr>
      </p:sp>
      <p:sp>
        <p:nvSpPr>
          <p:cNvPr id="9" name="Text 7">
            <a:extLst xmlns:a="http://schemas.openxmlformats.org/drawingml/2006/main">
              <a:ext uri="{FF2B5EF4-FFF2-40B4-BE49-F238E27FC236}">
                <a16:creationId xmlns:a16="http://schemas.microsoft.com/office/drawing/2014/main" id="{8EACF9A9-2734-44AB-9998-E125FEA0B352}"/>
              </a:ext>
            </a:extLst>
          </p:cNvPr>
          <p:cNvSpPr>
            <a:spLocks xmlns:a="http://schemas.openxmlformats.org/drawingml/2006/main" noGrp="1"/>
          </p:cNvSpPr>
          <p:nvPr/>
        </p:nvSpPr>
        <p:spPr>
          <a:xfrm xmlns:a="http://schemas.openxmlformats.org/drawingml/2006/main">
            <a:off x="1234440" y="3410712"/>
            <a:ext cx="97200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i="1">
                <a:solidFill>
                  <a:srgbClr val="FFFFFF"/>
                </a:solidFill>
                <a:latin typeface="Calibri"/>
                <a:ea typeface="Calibri"/>
                <a:cs typeface="Calibri"/>
              </a:rPr>
              <a:t>token valid · 15 minutes</a:t>
            </a:r>
          </a:p>
        </p:txBody>
      </p:sp>
      <p:sp>
        <p:nvSpPr>
          <p:cNvPr id="10" name="Shape 8">
            <a:extLst xmlns:a="http://schemas.openxmlformats.org/drawingml/2006/main">
              <a:ext uri="{FF2B5EF4-FFF2-40B4-BE49-F238E27FC236}">
                <a16:creationId xmlns:a16="http://schemas.microsoft.com/office/drawing/2014/main" id="{D21868E8-A3BA-4D3B-B3D5-8748A28EF204}"/>
              </a:ext>
            </a:extLst>
          </p:cNvPr>
          <p:cNvSpPr>
            <a:spLocks xmlns:a="http://schemas.openxmlformats.org/drawingml/2006/main" noGrp="1"/>
          </p:cNvSpPr>
          <p:nvPr/>
        </p:nvSpPr>
        <p:spPr>
          <a:xfrm xmlns:a="http://schemas.openxmlformats.org/drawingml/2006/main">
            <a:off x="4150462" y="2560320"/>
            <a:ext cx="0" cy="2084832"/>
          </a:xfrm>
          <a:prstGeom xmlns:a="http://schemas.openxmlformats.org/drawingml/2006/main" prst="line">
            <a:avLst/>
          </a:prstGeom>
          <a:noFill xmlns:a="http://schemas.openxmlformats.org/drawingml/2006/main"/>
          <a:ln xmlns:a="http://schemas.openxmlformats.org/drawingml/2006/main" w="25400">
            <a:solidFill>
              <a:srgbClr val="D64550"/>
            </a:solidFill>
            <a:prstDash val="dash"/>
          </a:ln>
        </p:spPr>
      </p:sp>
      <p:sp>
        <p:nvSpPr>
          <p:cNvPr id="11" name="Text 9">
            <a:extLst xmlns:a="http://schemas.openxmlformats.org/drawingml/2006/main">
              <a:ext uri="{FF2B5EF4-FFF2-40B4-BE49-F238E27FC236}">
                <a16:creationId xmlns:a16="http://schemas.microsoft.com/office/drawing/2014/main" id="{AB64C19A-D1E8-477F-B25D-DC8D0B110C16}"/>
              </a:ext>
            </a:extLst>
          </p:cNvPr>
          <p:cNvSpPr>
            <a:spLocks xmlns:a="http://schemas.openxmlformats.org/drawingml/2006/main" noGrp="1"/>
          </p:cNvSpPr>
          <p:nvPr/>
        </p:nvSpPr>
        <p:spPr>
          <a:xfrm xmlns:a="http://schemas.openxmlformats.org/drawingml/2006/main">
            <a:off x="2687422" y="2029968"/>
            <a:ext cx="2926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D64550"/>
                </a:solidFill>
                <a:latin typeface="Calibri"/>
                <a:ea typeface="Calibri"/>
                <a:cs typeface="Calibri"/>
              </a:rPr>
              <a:t>Admin revokes the role</a:t>
            </a:r>
          </a:p>
        </p:txBody>
      </p:sp>
      <p:sp>
        <p:nvSpPr>
          <p:cNvPr id="12" name="Text 10">
            <a:extLst xmlns:a="http://schemas.openxmlformats.org/drawingml/2006/main">
              <a:ext uri="{FF2B5EF4-FFF2-40B4-BE49-F238E27FC236}">
                <a16:creationId xmlns:a16="http://schemas.microsoft.com/office/drawing/2014/main" id="{58640E34-E94A-4E76-9307-2D261937F846}"/>
              </a:ext>
            </a:extLst>
          </p:cNvPr>
          <p:cNvSpPr>
            <a:spLocks xmlns:a="http://schemas.openxmlformats.org/drawingml/2006/main" noGrp="1"/>
          </p:cNvSpPr>
          <p:nvPr/>
        </p:nvSpPr>
        <p:spPr>
          <a:xfrm xmlns:a="http://schemas.openxmlformats.org/drawingml/2006/main">
            <a:off x="2687422" y="2276856"/>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D64550"/>
                </a:solidFill>
                <a:latin typeface="Consolas"/>
                <a:ea typeface="Consolas"/>
                <a:cs typeface="Consolas"/>
              </a:rPr>
              <a:t>+2 min</a:t>
            </a:r>
          </a:p>
        </p:txBody>
      </p:sp>
      <p:sp>
        <p:nvSpPr>
          <p:cNvPr id="13" name="Shape 11">
            <a:extLst xmlns:a="http://schemas.openxmlformats.org/drawingml/2006/main">
              <a:ext uri="{FF2B5EF4-FFF2-40B4-BE49-F238E27FC236}">
                <a16:creationId xmlns:a16="http://schemas.microsoft.com/office/drawing/2014/main" id="{48B44816-DEEE-4C08-BB6D-1DF3FE4D93A4}"/>
              </a:ext>
            </a:extLst>
          </p:cNvPr>
          <p:cNvSpPr>
            <a:spLocks xmlns:a="http://schemas.openxmlformats.org/drawingml/2006/main" noGrp="1"/>
          </p:cNvSpPr>
          <p:nvPr/>
        </p:nvSpPr>
        <p:spPr>
          <a:xfrm xmlns:a="http://schemas.openxmlformats.org/drawingml/2006/main">
            <a:off x="2498049" y="3749040"/>
            <a:ext cx="0" cy="457200"/>
          </a:xfrm>
          <a:prstGeom xmlns:a="http://schemas.openxmlformats.org/drawingml/2006/main" prst="line">
            <a:avLst/>
          </a:prstGeom>
          <a:noFill xmlns:a="http://schemas.openxmlformats.org/drawingml/2006/main"/>
          <a:ln xmlns:a="http://schemas.openxmlformats.org/drawingml/2006/main" w="19050">
            <a:solidFill>
              <a:srgbClr val="16A34A"/>
            </a:solidFill>
            <a:prstDash val="solid"/>
          </a:ln>
        </p:spPr>
      </p:sp>
      <p:sp>
        <p:nvSpPr>
          <p:cNvPr id="14" name="Shape 12">
            <a:extLst xmlns:a="http://schemas.openxmlformats.org/drawingml/2006/main">
              <a:ext uri="{FF2B5EF4-FFF2-40B4-BE49-F238E27FC236}">
                <a16:creationId xmlns:a16="http://schemas.microsoft.com/office/drawing/2014/main" id="{1B9FC337-7FDF-4BEF-ABAD-7F350ABC4CED}"/>
              </a:ext>
            </a:extLst>
          </p:cNvPr>
          <p:cNvSpPr>
            <a:spLocks xmlns:a="http://schemas.openxmlformats.org/drawingml/2006/main" noGrp="1"/>
          </p:cNvSpPr>
          <p:nvPr/>
        </p:nvSpPr>
        <p:spPr>
          <a:xfrm xmlns:a="http://schemas.openxmlformats.org/drawingml/2006/main">
            <a:off x="2269449" y="4069080"/>
            <a:ext cx="457200" cy="457200"/>
          </a:xfrm>
          <a:prstGeom xmlns:a="http://schemas.openxmlformats.org/drawingml/2006/main" prst="ellipse">
            <a:avLst/>
          </a:prstGeom>
          <a:solidFill xmlns:a="http://schemas.openxmlformats.org/drawingml/2006/main">
            <a:srgbClr val="16A34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faa47e9ac92e4d81"/>
          <a:stretch xmlns:a="http://schemas.openxmlformats.org/drawingml/2006/main">
            <a:fillRect l="0" t="0" r="0" b="0"/>
          </a:stretch>
        </p:blipFill>
        <p:spPr>
          <a:xfrm xmlns:a="http://schemas.openxmlformats.org/drawingml/2006/main">
            <a:off x="2370033" y="4169664"/>
            <a:ext cx="256032" cy="256032"/>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7FE00E6A-CD42-4AF6-B242-E24B39851326}"/>
              </a:ext>
            </a:extLst>
          </p:cNvPr>
          <p:cNvSpPr>
            <a:spLocks xmlns:a="http://schemas.openxmlformats.org/drawingml/2006/main" noGrp="1"/>
          </p:cNvSpPr>
          <p:nvPr/>
        </p:nvSpPr>
        <p:spPr>
          <a:xfrm xmlns:a="http://schemas.openxmlformats.org/drawingml/2006/main">
            <a:off x="1217889" y="4645152"/>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6A34A"/>
                </a:solidFill>
                <a:latin typeface="Calibri"/>
                <a:ea typeface="Calibri"/>
                <a:cs typeface="Calibri"/>
              </a:rPr>
              <a:t>call → allowed</a:t>
            </a:r>
          </a:p>
        </p:txBody>
      </p:sp>
      <p:sp>
        <p:nvSpPr>
          <p:cNvPr id="17" name="Shape 14">
            <a:extLst xmlns:a="http://schemas.openxmlformats.org/drawingml/2006/main">
              <a:ext uri="{FF2B5EF4-FFF2-40B4-BE49-F238E27FC236}">
                <a16:creationId xmlns:a16="http://schemas.microsoft.com/office/drawing/2014/main" id="{7C35262C-E9DE-4790-9EF0-08F36018761B}"/>
              </a:ext>
            </a:extLst>
          </p:cNvPr>
          <p:cNvSpPr>
            <a:spLocks xmlns:a="http://schemas.openxmlformats.org/drawingml/2006/main" noGrp="1"/>
          </p:cNvSpPr>
          <p:nvPr/>
        </p:nvSpPr>
        <p:spPr>
          <a:xfrm xmlns:a="http://schemas.openxmlformats.org/drawingml/2006/main">
            <a:off x="6094476" y="3749040"/>
            <a:ext cx="0" cy="457200"/>
          </a:xfrm>
          <a:prstGeom xmlns:a="http://schemas.openxmlformats.org/drawingml/2006/main" prst="line">
            <a:avLst/>
          </a:prstGeom>
          <a:noFill xmlns:a="http://schemas.openxmlformats.org/drawingml/2006/main"/>
          <a:ln xmlns:a="http://schemas.openxmlformats.org/drawingml/2006/main" w="19050">
            <a:solidFill>
              <a:srgbClr val="D64550"/>
            </a:solidFill>
            <a:prstDash val="solid"/>
          </a:ln>
        </p:spPr>
      </p:sp>
      <p:sp>
        <p:nvSpPr>
          <p:cNvPr id="18" name="Shape 15">
            <a:extLst xmlns:a="http://schemas.openxmlformats.org/drawingml/2006/main">
              <a:ext uri="{FF2B5EF4-FFF2-40B4-BE49-F238E27FC236}">
                <a16:creationId xmlns:a16="http://schemas.microsoft.com/office/drawing/2014/main" id="{511C7109-CC48-49F8-AD65-4FE941EC103D}"/>
              </a:ext>
            </a:extLst>
          </p:cNvPr>
          <p:cNvSpPr>
            <a:spLocks xmlns:a="http://schemas.openxmlformats.org/drawingml/2006/main" noGrp="1"/>
          </p:cNvSpPr>
          <p:nvPr/>
        </p:nvSpPr>
        <p:spPr>
          <a:xfrm xmlns:a="http://schemas.openxmlformats.org/drawingml/2006/main">
            <a:off x="5865876" y="4069080"/>
            <a:ext cx="457200" cy="457200"/>
          </a:xfrm>
          <a:prstGeom xmlns:a="http://schemas.openxmlformats.org/drawingml/2006/main" prst="ellipse">
            <a:avLst/>
          </a:prstGeom>
          <a:solidFill xmlns:a="http://schemas.openxmlformats.org/drawingml/2006/main">
            <a:srgbClr val="D64550"/>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35d6fce42c9344ca"/>
          <a:stretch xmlns:a="http://schemas.openxmlformats.org/drawingml/2006/main">
            <a:fillRect l="0" t="0" r="0" b="0"/>
          </a:stretch>
        </p:blipFill>
        <p:spPr>
          <a:xfrm xmlns:a="http://schemas.openxmlformats.org/drawingml/2006/main">
            <a:off x="5966460" y="4169664"/>
            <a:ext cx="256032" cy="256032"/>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0624C04C-89C5-471F-9E5F-14263E411879}"/>
              </a:ext>
            </a:extLst>
          </p:cNvPr>
          <p:cNvSpPr>
            <a:spLocks xmlns:a="http://schemas.openxmlformats.org/drawingml/2006/main" noGrp="1"/>
          </p:cNvSpPr>
          <p:nvPr/>
        </p:nvSpPr>
        <p:spPr>
          <a:xfrm xmlns:a="http://schemas.openxmlformats.org/drawingml/2006/main">
            <a:off x="4814316" y="4645152"/>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D64550"/>
                </a:solidFill>
                <a:latin typeface="Calibri"/>
                <a:ea typeface="Calibri"/>
                <a:cs typeface="Calibri"/>
              </a:rPr>
              <a:t>next call → DENIED</a:t>
            </a:r>
          </a:p>
        </p:txBody>
      </p:sp>
      <p:sp>
        <p:nvSpPr>
          <p:cNvPr id="21" name="Shape 17">
            <a:extLst xmlns:a="http://schemas.openxmlformats.org/drawingml/2006/main">
              <a:ext uri="{FF2B5EF4-FFF2-40B4-BE49-F238E27FC236}">
                <a16:creationId xmlns:a16="http://schemas.microsoft.com/office/drawing/2014/main" id="{9240D196-0C23-4D9F-B382-C019CC35D357}"/>
              </a:ext>
            </a:extLst>
          </p:cNvPr>
          <p:cNvSpPr>
            <a:spLocks xmlns:a="http://schemas.openxmlformats.org/drawingml/2006/main" noGrp="1"/>
          </p:cNvSpPr>
          <p:nvPr/>
        </p:nvSpPr>
        <p:spPr>
          <a:xfrm xmlns:a="http://schemas.openxmlformats.org/drawingml/2006/main">
            <a:off x="777240" y="5440680"/>
            <a:ext cx="10637215" cy="868680"/>
          </a:xfrm>
          <a:prstGeom xmlns:a="http://schemas.openxmlformats.org/drawingml/2006/main" prst="roundRect">
            <a:avLst>
              <a:gd name="adj" fmla="val 10526"/>
            </a:avLst>
          </a:prstGeom>
          <a:solidFill xmlns:a="http://schemas.openxmlformats.org/drawingml/2006/main">
            <a:srgbClr val="E9F6F4"/>
          </a:solidFill>
        </p:spPr>
      </p:sp>
      <p:sp>
        <p:nvSpPr>
          <p:cNvPr id="22" name="Text 18">
            <a:extLst xmlns:a="http://schemas.openxmlformats.org/drawingml/2006/main">
              <a:ext uri="{FF2B5EF4-FFF2-40B4-BE49-F238E27FC236}">
                <a16:creationId xmlns:a16="http://schemas.microsoft.com/office/drawing/2014/main" id="{16378C6F-910A-4AC6-B335-EFAC94689CF4}"/>
              </a:ext>
            </a:extLst>
          </p:cNvPr>
          <p:cNvSpPr>
            <a:spLocks xmlns:a="http://schemas.openxmlformats.org/drawingml/2006/main" noGrp="1"/>
          </p:cNvSpPr>
          <p:nvPr/>
        </p:nvSpPr>
        <p:spPr>
          <a:xfrm xmlns:a="http://schemas.openxmlformats.org/drawingml/2006/main">
            <a:off x="1143000" y="5440680"/>
            <a:ext cx="990569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400" b="1">
                <a:solidFill>
                  <a:srgbClr val="16233B"/>
                </a:solidFill>
                <a:latin typeface="Calibri"/>
                <a:ea typeface="Calibri"/>
                <a:cs typeface="Calibri"/>
              </a:rPr>
              <a:t>The token remains cryptographically valid. The request is denied because the resource re-checks the live grant on every call.</a:t>
            </a:r>
          </a:p>
        </p:txBody>
      </p:sp>
    </p:spTree>
    <p:extLst>
      <p:ext uri="{BB962C8B-B14F-4D97-AF65-F5344CB8AC3E}">
        <p14:creationId xmlns:p14="http://schemas.microsoft.com/office/powerpoint/2010/main" val="15115474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7F694A-6BFD-483D-9423-64A8A695950A}"/>
              </a:ext>
            </a:extLst>
          </p:cNvPr>
          <p:cNvSpPr>
            <a:spLocks xmlns:a="http://schemas.openxmlformats.org/drawingml/2006/main" noGrp="1"/>
          </p:cNvSpPr>
          <p:nvPr/>
        </p:nvSpPr>
        <p:spPr>
          <a:xfrm xmlns:a="http://schemas.openxmlformats.org/drawingml/2006/main">
            <a:off x="777240" y="50292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8C7F"/>
                </a:solidFill>
                <a:latin typeface="Calibri"/>
                <a:ea typeface="Calibri"/>
                <a:cs typeface="Calibri"/>
              </a:rPr>
              <a:t>IDENTITY PATHS</a:t>
            </a:r>
          </a:p>
        </p:txBody>
      </p:sp>
      <p:sp>
        <p:nvSpPr>
          <p:cNvPr id="3" name="Text 1">
            <a:extLst xmlns:a="http://schemas.openxmlformats.org/drawingml/2006/main">
              <a:ext uri="{FF2B5EF4-FFF2-40B4-BE49-F238E27FC236}">
                <a16:creationId xmlns:a16="http://schemas.microsoft.com/office/drawing/2014/main" id="{12ACC379-8FA9-49A6-B77F-E7ACB06BDDD1}"/>
              </a:ext>
            </a:extLst>
          </p:cNvPr>
          <p:cNvSpPr>
            <a:spLocks xmlns:a="http://schemas.openxmlformats.org/drawingml/2006/main" noGrp="1"/>
          </p:cNvSpPr>
          <p:nvPr/>
        </p:nvSpPr>
        <p:spPr>
          <a:xfrm xmlns:a="http://schemas.openxmlformats.org/drawingml/2006/main">
            <a:off x="777240" y="841248"/>
            <a:ext cx="1063721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100" b="1">
                <a:solidFill>
                  <a:srgbClr val="16233B"/>
                </a:solidFill>
                <a:latin typeface="Calibri"/>
                <a:ea typeface="Calibri"/>
                <a:cs typeface="Calibri"/>
              </a:rPr>
              <a:t>Different proofs. One enforcement model.</a:t>
            </a:r>
          </a:p>
        </p:txBody>
      </p:sp>
      <p:sp>
        <p:nvSpPr>
          <p:cNvPr id="4" name="Shape 2">
            <a:extLst xmlns:a="http://schemas.openxmlformats.org/drawingml/2006/main">
              <a:ext uri="{FF2B5EF4-FFF2-40B4-BE49-F238E27FC236}">
                <a16:creationId xmlns:a16="http://schemas.microsoft.com/office/drawing/2014/main" id="{3B452F9A-776F-4886-BD3E-421F5B0368FC}"/>
              </a:ext>
            </a:extLst>
          </p:cNvPr>
          <p:cNvSpPr>
            <a:spLocks xmlns:a="http://schemas.openxmlformats.org/drawingml/2006/main" noGrp="1"/>
          </p:cNvSpPr>
          <p:nvPr/>
        </p:nvSpPr>
        <p:spPr>
          <a:xfrm xmlns:a="http://schemas.openxmlformats.org/drawingml/2006/main">
            <a:off x="777240" y="1874520"/>
            <a:ext cx="5120640"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5" name="Shape 3">
            <a:extLst xmlns:a="http://schemas.openxmlformats.org/drawingml/2006/main">
              <a:ext uri="{FF2B5EF4-FFF2-40B4-BE49-F238E27FC236}">
                <a16:creationId xmlns:a16="http://schemas.microsoft.com/office/drawing/2014/main" id="{D148C605-5ECF-4557-9238-2BC7F2C5C1C4}"/>
              </a:ext>
            </a:extLst>
          </p:cNvPr>
          <p:cNvSpPr>
            <a:spLocks xmlns:a="http://schemas.openxmlformats.org/drawingml/2006/main" noGrp="1"/>
          </p:cNvSpPr>
          <p:nvPr/>
        </p:nvSpPr>
        <p:spPr>
          <a:xfrm xmlns:a="http://schemas.openxmlformats.org/drawingml/2006/main">
            <a:off x="1106424" y="2345436"/>
            <a:ext cx="841248" cy="841248"/>
          </a:xfrm>
          <a:prstGeom xmlns:a="http://schemas.openxmlformats.org/drawingml/2006/main" prst="ellipse">
            <a:avLst/>
          </a:prstGeom>
          <a:solidFill xmlns:a="http://schemas.openxmlformats.org/drawingml/2006/main">
            <a:srgbClr val="E9F6F4"/>
          </a:solidFill>
        </p:spPr>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a16d06e660c04919"/>
          <a:stretch xmlns:a="http://schemas.openxmlformats.org/drawingml/2006/main">
            <a:fillRect l="0" t="0" r="0" b="0"/>
          </a:stretch>
        </p:blipFill>
        <p:spPr>
          <a:xfrm xmlns:a="http://schemas.openxmlformats.org/drawingml/2006/main">
            <a:off x="1325148" y="2564160"/>
            <a:ext cx="403799" cy="403799"/>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E4FEC25-06E2-4346-B64D-117C5F1AC7AA}"/>
              </a:ext>
            </a:extLst>
          </p:cNvPr>
          <p:cNvSpPr>
            <a:spLocks xmlns:a="http://schemas.openxmlformats.org/drawingml/2006/main" noGrp="1"/>
          </p:cNvSpPr>
          <p:nvPr/>
        </p:nvSpPr>
        <p:spPr>
          <a:xfrm xmlns:a="http://schemas.openxmlformats.org/drawingml/2006/main">
            <a:off x="2148840" y="2167128"/>
            <a:ext cx="3520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233B"/>
                </a:solidFill>
                <a:latin typeface="Calibri"/>
                <a:ea typeface="Calibri"/>
                <a:cs typeface="Calibri"/>
              </a:rPr>
              <a:t>User</a:t>
            </a:r>
          </a:p>
        </p:txBody>
      </p:sp>
      <p:sp>
        <p:nvSpPr>
          <p:cNvPr id="8" name="Text 5">
            <a:extLst xmlns:a="http://schemas.openxmlformats.org/drawingml/2006/main">
              <a:ext uri="{FF2B5EF4-FFF2-40B4-BE49-F238E27FC236}">
                <a16:creationId xmlns:a16="http://schemas.microsoft.com/office/drawing/2014/main" id="{3FB2E993-7FB6-4C4F-95B8-A3870657DB24}"/>
              </a:ext>
            </a:extLst>
          </p:cNvPr>
          <p:cNvSpPr>
            <a:spLocks xmlns:a="http://schemas.openxmlformats.org/drawingml/2006/main" noGrp="1"/>
          </p:cNvSpPr>
          <p:nvPr/>
        </p:nvSpPr>
        <p:spPr>
          <a:xfrm xmlns:a="http://schemas.openxmlformats.org/drawingml/2006/main">
            <a:off x="2148840" y="2569464"/>
            <a:ext cx="35204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00">
                <a:solidFill>
                  <a:srgbClr val="45566E"/>
                </a:solidFill>
                <a:latin typeface="Calibri"/>
                <a:ea typeface="Calibri"/>
                <a:cs typeface="Calibri"/>
              </a:rPr>
              <a:t>Signs in from the client through an OIDC authorization flow.</a:t>
            </a:r>
          </a:p>
        </p:txBody>
      </p:sp>
      <p:sp>
        <p:nvSpPr>
          <p:cNvPr id="9" name="Shape 6">
            <a:extLst xmlns:a="http://schemas.openxmlformats.org/drawingml/2006/main">
              <a:ext uri="{FF2B5EF4-FFF2-40B4-BE49-F238E27FC236}">
                <a16:creationId xmlns:a16="http://schemas.microsoft.com/office/drawing/2014/main" id="{37FDFEF9-7B01-411E-942A-4D343F612104}"/>
              </a:ext>
            </a:extLst>
          </p:cNvPr>
          <p:cNvSpPr>
            <a:spLocks xmlns:a="http://schemas.openxmlformats.org/drawingml/2006/main" noGrp="1"/>
          </p:cNvSpPr>
          <p:nvPr/>
        </p:nvSpPr>
        <p:spPr>
          <a:xfrm xmlns:a="http://schemas.openxmlformats.org/drawingml/2006/main">
            <a:off x="2148840" y="3227832"/>
            <a:ext cx="1965960" cy="310896"/>
          </a:xfrm>
          <a:prstGeom xmlns:a="http://schemas.openxmlformats.org/drawingml/2006/main" prst="roundRect">
            <a:avLst>
              <a:gd name="adj" fmla="val 14706"/>
            </a:avLst>
          </a:prstGeom>
          <a:solidFill xmlns:a="http://schemas.openxmlformats.org/drawingml/2006/main">
            <a:srgbClr val="E9F6F4"/>
          </a:solidFill>
        </p:spPr>
      </p:sp>
      <p:sp>
        <p:nvSpPr>
          <p:cNvPr id="10" name="Text 7">
            <a:extLst xmlns:a="http://schemas.openxmlformats.org/drawingml/2006/main">
              <a:ext uri="{FF2B5EF4-FFF2-40B4-BE49-F238E27FC236}">
                <a16:creationId xmlns:a16="http://schemas.microsoft.com/office/drawing/2014/main" id="{702288DE-977E-404D-A941-8E3E4ADCDB70}"/>
              </a:ext>
            </a:extLst>
          </p:cNvPr>
          <p:cNvSpPr>
            <a:spLocks xmlns:a="http://schemas.openxmlformats.org/drawingml/2006/main" noGrp="1"/>
          </p:cNvSpPr>
          <p:nvPr/>
        </p:nvSpPr>
        <p:spPr>
          <a:xfrm xmlns:a="http://schemas.openxmlformats.org/drawingml/2006/main">
            <a:off x="2148840" y="3227832"/>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onsolas"/>
                <a:ea typeface="Consolas"/>
                <a:cs typeface="Consolas"/>
              </a:rPr>
              <a:t>OAuth / OIDC</a:t>
            </a:r>
          </a:p>
        </p:txBody>
      </p:sp>
      <p:sp>
        <p:nvSpPr>
          <p:cNvPr id="11" name="Shape 8">
            <a:extLst xmlns:a="http://schemas.openxmlformats.org/drawingml/2006/main">
              <a:ext uri="{FF2B5EF4-FFF2-40B4-BE49-F238E27FC236}">
                <a16:creationId xmlns:a16="http://schemas.microsoft.com/office/drawing/2014/main" id="{F55F92D4-852B-46AD-9FC4-51B88BDF8F4B}"/>
              </a:ext>
            </a:extLst>
          </p:cNvPr>
          <p:cNvSpPr>
            <a:spLocks xmlns:a="http://schemas.openxmlformats.org/drawingml/2006/main" noGrp="1"/>
          </p:cNvSpPr>
          <p:nvPr/>
        </p:nvSpPr>
        <p:spPr>
          <a:xfrm xmlns:a="http://schemas.openxmlformats.org/drawingml/2006/main">
            <a:off x="6291072" y="1874520"/>
            <a:ext cx="5120640"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2" name="Shape 9">
            <a:extLst xmlns:a="http://schemas.openxmlformats.org/drawingml/2006/main">
              <a:ext uri="{FF2B5EF4-FFF2-40B4-BE49-F238E27FC236}">
                <a16:creationId xmlns:a16="http://schemas.microsoft.com/office/drawing/2014/main" id="{91111844-12E9-4E42-AB67-D30C0809F264}"/>
              </a:ext>
            </a:extLst>
          </p:cNvPr>
          <p:cNvSpPr>
            <a:spLocks xmlns:a="http://schemas.openxmlformats.org/drawingml/2006/main" noGrp="1"/>
          </p:cNvSpPr>
          <p:nvPr/>
        </p:nvSpPr>
        <p:spPr>
          <a:xfrm xmlns:a="http://schemas.openxmlformats.org/drawingml/2006/main">
            <a:off x="6620256" y="2345436"/>
            <a:ext cx="841248" cy="841248"/>
          </a:xfrm>
          <a:prstGeom xmlns:a="http://schemas.openxmlformats.org/drawingml/2006/main" prst="ellipse">
            <a:avLst/>
          </a:prstGeom>
          <a:solidFill xmlns:a="http://schemas.openxmlformats.org/drawingml/2006/main">
            <a:srgbClr val="E9F6F4"/>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1f40bd572eea4152"/>
          <a:stretch xmlns:a="http://schemas.openxmlformats.org/drawingml/2006/main">
            <a:fillRect l="0" t="0" r="0" b="0"/>
          </a:stretch>
        </p:blipFill>
        <p:spPr>
          <a:xfrm xmlns:a="http://schemas.openxmlformats.org/drawingml/2006/main">
            <a:off x="6838980" y="2564160"/>
            <a:ext cx="403799" cy="403799"/>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4899898-8D2E-4ED7-8A99-AB95C55078B7}"/>
              </a:ext>
            </a:extLst>
          </p:cNvPr>
          <p:cNvSpPr>
            <a:spLocks xmlns:a="http://schemas.openxmlformats.org/drawingml/2006/main" noGrp="1"/>
          </p:cNvSpPr>
          <p:nvPr/>
        </p:nvSpPr>
        <p:spPr>
          <a:xfrm xmlns:a="http://schemas.openxmlformats.org/drawingml/2006/main">
            <a:off x="7662672" y="2167128"/>
            <a:ext cx="3520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233B"/>
                </a:solidFill>
                <a:latin typeface="Calibri"/>
                <a:ea typeface="Calibri"/>
                <a:cs typeface="Calibri"/>
              </a:rPr>
              <a:t>Machine</a:t>
            </a:r>
          </a:p>
        </p:txBody>
      </p:sp>
      <p:sp>
        <p:nvSpPr>
          <p:cNvPr id="15" name="Text 11">
            <a:extLst xmlns:a="http://schemas.openxmlformats.org/drawingml/2006/main">
              <a:ext uri="{FF2B5EF4-FFF2-40B4-BE49-F238E27FC236}">
                <a16:creationId xmlns:a16="http://schemas.microsoft.com/office/drawing/2014/main" id="{6DF75F14-C56E-492A-9E21-092C1A41C654}"/>
              </a:ext>
            </a:extLst>
          </p:cNvPr>
          <p:cNvSpPr>
            <a:spLocks xmlns:a="http://schemas.openxmlformats.org/drawingml/2006/main" noGrp="1"/>
          </p:cNvSpPr>
          <p:nvPr/>
        </p:nvSpPr>
        <p:spPr>
          <a:xfrm xmlns:a="http://schemas.openxmlformats.org/drawingml/2006/main">
            <a:off x="7662672" y="2569464"/>
            <a:ext cx="35204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00">
                <a:solidFill>
                  <a:srgbClr val="45566E"/>
                </a:solidFill>
                <a:latin typeface="Calibri"/>
                <a:ea typeface="Calibri"/>
                <a:cs typeface="Calibri"/>
              </a:rPr>
              <a:t>Proves possession of its own private key — no shared secret to distribute.</a:t>
            </a:r>
          </a:p>
        </p:txBody>
      </p:sp>
      <p:sp>
        <p:nvSpPr>
          <p:cNvPr id="16" name="Shape 12">
            <a:extLst xmlns:a="http://schemas.openxmlformats.org/drawingml/2006/main">
              <a:ext uri="{FF2B5EF4-FFF2-40B4-BE49-F238E27FC236}">
                <a16:creationId xmlns:a16="http://schemas.microsoft.com/office/drawing/2014/main" id="{E7042BAC-DD69-43E1-ACA3-7DE21C019E79}"/>
              </a:ext>
            </a:extLst>
          </p:cNvPr>
          <p:cNvSpPr>
            <a:spLocks xmlns:a="http://schemas.openxmlformats.org/drawingml/2006/main" noGrp="1"/>
          </p:cNvSpPr>
          <p:nvPr/>
        </p:nvSpPr>
        <p:spPr>
          <a:xfrm xmlns:a="http://schemas.openxmlformats.org/drawingml/2006/main">
            <a:off x="7662672" y="3227832"/>
            <a:ext cx="1965960" cy="310896"/>
          </a:xfrm>
          <a:prstGeom xmlns:a="http://schemas.openxmlformats.org/drawingml/2006/main" prst="roundRect">
            <a:avLst>
              <a:gd name="adj" fmla="val 14706"/>
            </a:avLst>
          </a:prstGeom>
          <a:solidFill xmlns:a="http://schemas.openxmlformats.org/drawingml/2006/main">
            <a:srgbClr val="E9F6F4"/>
          </a:solidFill>
        </p:spPr>
      </p:sp>
      <p:sp>
        <p:nvSpPr>
          <p:cNvPr id="17" name="Text 13">
            <a:extLst xmlns:a="http://schemas.openxmlformats.org/drawingml/2006/main">
              <a:ext uri="{FF2B5EF4-FFF2-40B4-BE49-F238E27FC236}">
                <a16:creationId xmlns:a16="http://schemas.microsoft.com/office/drawing/2014/main" id="{9AEBBC6C-48F0-4BEF-8F50-74F209F6892B}"/>
              </a:ext>
            </a:extLst>
          </p:cNvPr>
          <p:cNvSpPr>
            <a:spLocks xmlns:a="http://schemas.openxmlformats.org/drawingml/2006/main" noGrp="1"/>
          </p:cNvSpPr>
          <p:nvPr/>
        </p:nvSpPr>
        <p:spPr>
          <a:xfrm xmlns:a="http://schemas.openxmlformats.org/drawingml/2006/main">
            <a:off x="7662672" y="3227832"/>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onsolas"/>
                <a:ea typeface="Consolas"/>
                <a:cs typeface="Consolas"/>
              </a:rPr>
              <a:t>private_key_jwt</a:t>
            </a:r>
          </a:p>
        </p:txBody>
      </p:sp>
      <p:sp>
        <p:nvSpPr>
          <p:cNvPr id="18" name="Shape 14">
            <a:extLst xmlns:a="http://schemas.openxmlformats.org/drawingml/2006/main">
              <a:ext uri="{FF2B5EF4-FFF2-40B4-BE49-F238E27FC236}">
                <a16:creationId xmlns:a16="http://schemas.microsoft.com/office/drawing/2014/main" id="{ACD0200F-1B0F-427B-A522-3B863A6C3A5A}"/>
              </a:ext>
            </a:extLst>
          </p:cNvPr>
          <p:cNvSpPr>
            <a:spLocks xmlns:a="http://schemas.openxmlformats.org/drawingml/2006/main" noGrp="1"/>
          </p:cNvSpPr>
          <p:nvPr/>
        </p:nvSpPr>
        <p:spPr>
          <a:xfrm xmlns:a="http://schemas.openxmlformats.org/drawingml/2006/main">
            <a:off x="777240" y="3968496"/>
            <a:ext cx="5120640"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19" name="Shape 15">
            <a:extLst xmlns:a="http://schemas.openxmlformats.org/drawingml/2006/main">
              <a:ext uri="{FF2B5EF4-FFF2-40B4-BE49-F238E27FC236}">
                <a16:creationId xmlns:a16="http://schemas.microsoft.com/office/drawing/2014/main" id="{D781883E-1F57-4061-8706-F39D57A7FF60}"/>
              </a:ext>
            </a:extLst>
          </p:cNvPr>
          <p:cNvSpPr>
            <a:spLocks xmlns:a="http://schemas.openxmlformats.org/drawingml/2006/main" noGrp="1"/>
          </p:cNvSpPr>
          <p:nvPr/>
        </p:nvSpPr>
        <p:spPr>
          <a:xfrm xmlns:a="http://schemas.openxmlformats.org/drawingml/2006/main">
            <a:off x="1106424" y="4439412"/>
            <a:ext cx="841248" cy="841248"/>
          </a:xfrm>
          <a:prstGeom xmlns:a="http://schemas.openxmlformats.org/drawingml/2006/main" prst="ellipse">
            <a:avLst/>
          </a:prstGeom>
          <a:solidFill xmlns:a="http://schemas.openxmlformats.org/drawingml/2006/main">
            <a:srgbClr val="E9F6F4"/>
          </a:solidFill>
        </p:spPr>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09e3b6111b9a4140"/>
          <a:stretch xmlns:a="http://schemas.openxmlformats.org/drawingml/2006/main">
            <a:fillRect l="0" t="0" r="0" b="0"/>
          </a:stretch>
        </p:blipFill>
        <p:spPr>
          <a:xfrm xmlns:a="http://schemas.openxmlformats.org/drawingml/2006/main">
            <a:off x="1325148" y="4658136"/>
            <a:ext cx="403799" cy="403799"/>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E32239C-46CB-429A-BBE9-8CA0E28F4B69}"/>
              </a:ext>
            </a:extLst>
          </p:cNvPr>
          <p:cNvSpPr>
            <a:spLocks xmlns:a="http://schemas.openxmlformats.org/drawingml/2006/main" noGrp="1"/>
          </p:cNvSpPr>
          <p:nvPr/>
        </p:nvSpPr>
        <p:spPr>
          <a:xfrm xmlns:a="http://schemas.openxmlformats.org/drawingml/2006/main">
            <a:off x="2148840" y="4261104"/>
            <a:ext cx="3520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233B"/>
                </a:solidFill>
                <a:latin typeface="Calibri"/>
                <a:ea typeface="Calibri"/>
                <a:cs typeface="Calibri"/>
              </a:rPr>
              <a:t>Workload</a:t>
            </a:r>
          </a:p>
        </p:txBody>
      </p:sp>
      <p:sp>
        <p:nvSpPr>
          <p:cNvPr id="22" name="Text 17">
            <a:extLst xmlns:a="http://schemas.openxmlformats.org/drawingml/2006/main">
              <a:ext uri="{FF2B5EF4-FFF2-40B4-BE49-F238E27FC236}">
                <a16:creationId xmlns:a16="http://schemas.microsoft.com/office/drawing/2014/main" id="{51E5B2E6-07BF-4B55-BFD3-C7572AABCC32}"/>
              </a:ext>
            </a:extLst>
          </p:cNvPr>
          <p:cNvSpPr>
            <a:spLocks xmlns:a="http://schemas.openxmlformats.org/drawingml/2006/main" noGrp="1"/>
          </p:cNvSpPr>
          <p:nvPr/>
        </p:nvSpPr>
        <p:spPr>
          <a:xfrm xmlns:a="http://schemas.openxmlformats.org/drawingml/2006/main">
            <a:off x="2148840" y="4663440"/>
            <a:ext cx="35204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00">
                <a:solidFill>
                  <a:srgbClr val="45566E"/>
                </a:solidFill>
                <a:latin typeface="Calibri"/>
                <a:ea typeface="Calibri"/>
                <a:cs typeface="Calibri"/>
              </a:rPr>
              <a:t>Presents a short-lived, attested workload identity issued by SPIFFE.</a:t>
            </a:r>
          </a:p>
        </p:txBody>
      </p:sp>
      <p:sp>
        <p:nvSpPr>
          <p:cNvPr id="23" name="Shape 18">
            <a:extLst xmlns:a="http://schemas.openxmlformats.org/drawingml/2006/main">
              <a:ext uri="{FF2B5EF4-FFF2-40B4-BE49-F238E27FC236}">
                <a16:creationId xmlns:a16="http://schemas.microsoft.com/office/drawing/2014/main" id="{4B1042FA-FDC3-4BA1-83D0-331FDC4512D9}"/>
              </a:ext>
            </a:extLst>
          </p:cNvPr>
          <p:cNvSpPr>
            <a:spLocks xmlns:a="http://schemas.openxmlformats.org/drawingml/2006/main" noGrp="1"/>
          </p:cNvSpPr>
          <p:nvPr/>
        </p:nvSpPr>
        <p:spPr>
          <a:xfrm xmlns:a="http://schemas.openxmlformats.org/drawingml/2006/main">
            <a:off x="2148840" y="5321808"/>
            <a:ext cx="1965960" cy="310896"/>
          </a:xfrm>
          <a:prstGeom xmlns:a="http://schemas.openxmlformats.org/drawingml/2006/main" prst="roundRect">
            <a:avLst>
              <a:gd name="adj" fmla="val 14706"/>
            </a:avLst>
          </a:prstGeom>
          <a:solidFill xmlns:a="http://schemas.openxmlformats.org/drawingml/2006/main">
            <a:srgbClr val="E9F6F4"/>
          </a:solidFill>
        </p:spPr>
      </p:sp>
      <p:sp>
        <p:nvSpPr>
          <p:cNvPr id="24" name="Text 19">
            <a:extLst xmlns:a="http://schemas.openxmlformats.org/drawingml/2006/main">
              <a:ext uri="{FF2B5EF4-FFF2-40B4-BE49-F238E27FC236}">
                <a16:creationId xmlns:a16="http://schemas.microsoft.com/office/drawing/2014/main" id="{048AD1A7-2F0C-49A2-99B2-CA22529E9E65}"/>
              </a:ext>
            </a:extLst>
          </p:cNvPr>
          <p:cNvSpPr>
            <a:spLocks xmlns:a="http://schemas.openxmlformats.org/drawingml/2006/main" noGrp="1"/>
          </p:cNvSpPr>
          <p:nvPr/>
        </p:nvSpPr>
        <p:spPr>
          <a:xfrm xmlns:a="http://schemas.openxmlformats.org/drawingml/2006/main">
            <a:off x="2148840" y="532180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onsolas"/>
                <a:ea typeface="Consolas"/>
                <a:cs typeface="Consolas"/>
              </a:rPr>
              <a:t>SPIFFE / JWT-SVID</a:t>
            </a:r>
          </a:p>
        </p:txBody>
      </p:sp>
      <p:sp>
        <p:nvSpPr>
          <p:cNvPr id="25" name="Shape 20">
            <a:extLst xmlns:a="http://schemas.openxmlformats.org/drawingml/2006/main">
              <a:ext uri="{FF2B5EF4-FFF2-40B4-BE49-F238E27FC236}">
                <a16:creationId xmlns:a16="http://schemas.microsoft.com/office/drawing/2014/main" id="{64C192B5-8885-479F-BBC7-C427F8BCE967}"/>
              </a:ext>
            </a:extLst>
          </p:cNvPr>
          <p:cNvSpPr>
            <a:spLocks xmlns:a="http://schemas.openxmlformats.org/drawingml/2006/main" noGrp="1"/>
          </p:cNvSpPr>
          <p:nvPr/>
        </p:nvSpPr>
        <p:spPr>
          <a:xfrm xmlns:a="http://schemas.openxmlformats.org/drawingml/2006/main">
            <a:off x="6291072" y="3968496"/>
            <a:ext cx="5120640"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6EBF2"/>
            </a:solidFill>
            <a:prstDash val="solid"/>
          </a:ln>
          <a:effectLst xmlns:a="http://schemas.openxmlformats.org/drawingml/2006/main">
            <a:outerShdw blurRad="215900" dist="63500" dir="5400000" sx="100000" sy="100000" kx="0" ky="0" algn="bl" rotWithShape="0">
              <a:srgbClr val="1B2A44">
                <a:alpha val="11000"/>
              </a:srgbClr>
            </a:outerShdw>
          </a:effectLst>
        </p:spPr>
      </p:sp>
      <p:sp>
        <p:nvSpPr>
          <p:cNvPr id="26" name="Shape 21">
            <a:extLst xmlns:a="http://schemas.openxmlformats.org/drawingml/2006/main">
              <a:ext uri="{FF2B5EF4-FFF2-40B4-BE49-F238E27FC236}">
                <a16:creationId xmlns:a16="http://schemas.microsoft.com/office/drawing/2014/main" id="{B0B87F54-9953-4086-88EB-46A3399A0AAC}"/>
              </a:ext>
            </a:extLst>
          </p:cNvPr>
          <p:cNvSpPr>
            <a:spLocks xmlns:a="http://schemas.openxmlformats.org/drawingml/2006/main" noGrp="1"/>
          </p:cNvSpPr>
          <p:nvPr/>
        </p:nvSpPr>
        <p:spPr>
          <a:xfrm xmlns:a="http://schemas.openxmlformats.org/drawingml/2006/main">
            <a:off x="6620256" y="4439412"/>
            <a:ext cx="841248" cy="841248"/>
          </a:xfrm>
          <a:prstGeom xmlns:a="http://schemas.openxmlformats.org/drawingml/2006/main" prst="ellipse">
            <a:avLst/>
          </a:prstGeom>
          <a:solidFill xmlns:a="http://schemas.openxmlformats.org/drawingml/2006/main">
            <a:srgbClr val="E9F6F4"/>
          </a:solidFill>
        </p:spPr>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1279784afe004396"/>
          <a:stretch xmlns:a="http://schemas.openxmlformats.org/drawingml/2006/main">
            <a:fillRect l="0" t="0" r="0" b="0"/>
          </a:stretch>
        </p:blipFill>
        <p:spPr>
          <a:xfrm xmlns:a="http://schemas.openxmlformats.org/drawingml/2006/main">
            <a:off x="6838980" y="4658136"/>
            <a:ext cx="403799" cy="403799"/>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172C454-1A3C-4D45-AC52-8E75A460B6EA}"/>
              </a:ext>
            </a:extLst>
          </p:cNvPr>
          <p:cNvSpPr>
            <a:spLocks xmlns:a="http://schemas.openxmlformats.org/drawingml/2006/main" noGrp="1"/>
          </p:cNvSpPr>
          <p:nvPr/>
        </p:nvSpPr>
        <p:spPr>
          <a:xfrm xmlns:a="http://schemas.openxmlformats.org/drawingml/2006/main">
            <a:off x="7662672" y="4261104"/>
            <a:ext cx="3520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6233B"/>
                </a:solidFill>
                <a:latin typeface="Calibri"/>
                <a:ea typeface="Calibri"/>
                <a:cs typeface="Calibri"/>
              </a:rPr>
              <a:t>Delegated agent</a:t>
            </a:r>
          </a:p>
        </p:txBody>
      </p:sp>
      <p:sp>
        <p:nvSpPr>
          <p:cNvPr id="29" name="Text 23">
            <a:extLst xmlns:a="http://schemas.openxmlformats.org/drawingml/2006/main">
              <a:ext uri="{FF2B5EF4-FFF2-40B4-BE49-F238E27FC236}">
                <a16:creationId xmlns:a16="http://schemas.microsoft.com/office/drawing/2014/main" id="{CFB5A5A6-D492-4402-805C-8ABB48562B6E}"/>
              </a:ext>
            </a:extLst>
          </p:cNvPr>
          <p:cNvSpPr>
            <a:spLocks xmlns:a="http://schemas.openxmlformats.org/drawingml/2006/main" noGrp="1"/>
          </p:cNvSpPr>
          <p:nvPr/>
        </p:nvSpPr>
        <p:spPr>
          <a:xfrm xmlns:a="http://schemas.openxmlformats.org/drawingml/2006/main">
            <a:off x="7662672" y="4663440"/>
            <a:ext cx="35204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00">
                <a:solidFill>
                  <a:srgbClr val="45566E"/>
                </a:solidFill>
                <a:latin typeface="Calibri"/>
                <a:ea typeface="Calibri"/>
                <a:cs typeface="Calibri"/>
              </a:rPr>
              <a:t>Carries a named user and a named agent through an explicit delegation chain.</a:t>
            </a:r>
          </a:p>
        </p:txBody>
      </p:sp>
      <p:sp>
        <p:nvSpPr>
          <p:cNvPr id="30" name="Shape 24">
            <a:extLst xmlns:a="http://schemas.openxmlformats.org/drawingml/2006/main">
              <a:ext uri="{FF2B5EF4-FFF2-40B4-BE49-F238E27FC236}">
                <a16:creationId xmlns:a16="http://schemas.microsoft.com/office/drawing/2014/main" id="{A1180968-1EB7-426F-8F20-07EB4B33946A}"/>
              </a:ext>
            </a:extLst>
          </p:cNvPr>
          <p:cNvSpPr>
            <a:spLocks xmlns:a="http://schemas.openxmlformats.org/drawingml/2006/main" noGrp="1"/>
          </p:cNvSpPr>
          <p:nvPr/>
        </p:nvSpPr>
        <p:spPr>
          <a:xfrm xmlns:a="http://schemas.openxmlformats.org/drawingml/2006/main">
            <a:off x="7662672" y="5321808"/>
            <a:ext cx="1965960" cy="310896"/>
          </a:xfrm>
          <a:prstGeom xmlns:a="http://schemas.openxmlformats.org/drawingml/2006/main" prst="roundRect">
            <a:avLst>
              <a:gd name="adj" fmla="val 14706"/>
            </a:avLst>
          </a:prstGeom>
          <a:solidFill xmlns:a="http://schemas.openxmlformats.org/drawingml/2006/main">
            <a:srgbClr val="E9F6F4"/>
          </a:solidFill>
        </p:spPr>
      </p:sp>
      <p:sp>
        <p:nvSpPr>
          <p:cNvPr id="31" name="Text 25">
            <a:extLst xmlns:a="http://schemas.openxmlformats.org/drawingml/2006/main">
              <a:ext uri="{FF2B5EF4-FFF2-40B4-BE49-F238E27FC236}">
                <a16:creationId xmlns:a16="http://schemas.microsoft.com/office/drawing/2014/main" id="{B675D7CD-95F7-4F06-90B6-1B531E8C77A3}"/>
              </a:ext>
            </a:extLst>
          </p:cNvPr>
          <p:cNvSpPr>
            <a:spLocks xmlns:a="http://schemas.openxmlformats.org/drawingml/2006/main" noGrp="1"/>
          </p:cNvSpPr>
          <p:nvPr/>
        </p:nvSpPr>
        <p:spPr>
          <a:xfrm xmlns:a="http://schemas.openxmlformats.org/drawingml/2006/main">
            <a:off x="7662672" y="532180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A6E63"/>
                </a:solidFill>
                <a:latin typeface="Consolas"/>
                <a:ea typeface="Consolas"/>
                <a:cs typeface="Consolas"/>
              </a:rPr>
              <a:t>RFC 8693 · ID-JAG</a:t>
            </a:r>
          </a:p>
        </p:txBody>
      </p:sp>
      <p:sp>
        <p:nvSpPr>
          <p:cNvPr id="32" name="Text 26">
            <a:extLst xmlns:a="http://schemas.openxmlformats.org/drawingml/2006/main">
              <a:ext uri="{FF2B5EF4-FFF2-40B4-BE49-F238E27FC236}">
                <a16:creationId xmlns:a16="http://schemas.microsoft.com/office/drawing/2014/main" id="{6CE4BFF4-AFC7-44D0-893C-8052F0E52F72}"/>
              </a:ext>
            </a:extLst>
          </p:cNvPr>
          <p:cNvSpPr>
            <a:spLocks xmlns:a="http://schemas.openxmlformats.org/drawingml/2006/main" noGrp="1"/>
          </p:cNvSpPr>
          <p:nvPr/>
        </p:nvSpPr>
        <p:spPr>
          <a:xfrm xmlns:a="http://schemas.openxmlformats.org/drawingml/2006/main">
            <a:off x="777240" y="5989320"/>
            <a:ext cx="1063721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a:solidFill>
                  <a:srgbClr val="8493A6"/>
                </a:solidFill>
                <a:latin typeface="Calibri"/>
                <a:ea typeface="Calibri"/>
                <a:cs typeface="Calibri"/>
              </a:rPr>
              <a:t>Different proofs. The same resource-bound token and live per-tool policy.</a:t>
            </a:r>
          </a:p>
        </p:txBody>
      </p:sp>
    </p:spTree>
    <p:extLst>
      <p:ext uri="{BB962C8B-B14F-4D97-AF65-F5344CB8AC3E}">
        <p14:creationId xmlns:p14="http://schemas.microsoft.com/office/powerpoint/2010/main" val="8730676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23F1B9-4FEE-4A05-BC3D-0E983CF87EFE}"/>
              </a:ext>
            </a:extLst>
          </p:cNvPr>
          <p:cNvSpPr>
            <a:spLocks xmlns:a="http://schemas.openxmlformats.org/drawingml/2006/main" noGrp="1"/>
          </p:cNvSpPr>
          <p:nvPr/>
        </p:nvSpPr>
        <p:spPr>
          <a:xfrm xmlns:a="http://schemas.openxmlformats.org/drawingml/2006/main">
            <a:off x="777240" y="1463040"/>
            <a:ext cx="7315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8C7F"/>
                </a:solidFill>
                <a:latin typeface="Calibri"/>
                <a:ea typeface="Calibri"/>
                <a:cs typeface="Calibri"/>
              </a:rPr>
              <a:t>LIVE PROOF</a:t>
            </a:r>
          </a:p>
        </p:txBody>
      </p:sp>
      <p:sp>
        <p:nvSpPr>
          <p:cNvPr id="3" name="Text 1">
            <a:extLst xmlns:a="http://schemas.openxmlformats.org/drawingml/2006/main">
              <a:ext uri="{FF2B5EF4-FFF2-40B4-BE49-F238E27FC236}">
                <a16:creationId xmlns:a16="http://schemas.microsoft.com/office/drawing/2014/main" id="{C94DE8D1-F3A1-4A91-BF16-577040B2FE1E}"/>
              </a:ext>
            </a:extLst>
          </p:cNvPr>
          <p:cNvSpPr>
            <a:spLocks xmlns:a="http://schemas.openxmlformats.org/drawingml/2006/main" noGrp="1"/>
          </p:cNvSpPr>
          <p:nvPr/>
        </p:nvSpPr>
        <p:spPr>
          <a:xfrm xmlns:a="http://schemas.openxmlformats.org/drawingml/2006/main">
            <a:off x="777240" y="1938528"/>
            <a:ext cx="10515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16233B"/>
                </a:solidFill>
                <a:latin typeface="Calibri"/>
                <a:ea typeface="Calibri"/>
                <a:cs typeface="Calibri"/>
              </a:rPr>
              <a:t>Four checks. One protected MCP server.</a:t>
            </a:r>
          </a:p>
        </p:txBody>
      </p:sp>
      <p:sp>
        <p:nvSpPr>
          <p:cNvPr id="4" name="Text 2">
            <a:extLst xmlns:a="http://schemas.openxmlformats.org/drawingml/2006/main">
              <a:ext uri="{FF2B5EF4-FFF2-40B4-BE49-F238E27FC236}">
                <a16:creationId xmlns:a16="http://schemas.microsoft.com/office/drawing/2014/main" id="{238410AF-0F2F-488D-B866-F2E1CA245B53}"/>
              </a:ext>
            </a:extLst>
          </p:cNvPr>
          <p:cNvSpPr>
            <a:spLocks xmlns:a="http://schemas.openxmlformats.org/drawingml/2006/main" noGrp="1"/>
          </p:cNvSpPr>
          <p:nvPr/>
        </p:nvSpPr>
        <p:spPr>
          <a:xfrm xmlns:a="http://schemas.openxmlformats.org/drawingml/2006/main">
            <a:off x="777240" y="3291840"/>
            <a:ext cx="10332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650" b="1">
                <a:solidFill>
                  <a:srgbClr val="16233B"/>
                </a:solidFill>
                <a:latin typeface="Calibri"/>
                <a:ea typeface="Calibri"/>
                <a:cs typeface="Calibri"/>
              </a:rPr>
              <a:t>Machine identity · workload identity · delegated agent with subject + actor · revoke the live grant and watch the next call fail.</a:t>
            </a:r>
          </a:p>
        </p:txBody>
      </p:sp>
      <p:sp>
        <p:nvSpPr>
          <p:cNvPr id="5" name="Shape 3">
            <a:extLst xmlns:a="http://schemas.openxmlformats.org/drawingml/2006/main">
              <a:ext uri="{FF2B5EF4-FFF2-40B4-BE49-F238E27FC236}">
                <a16:creationId xmlns:a16="http://schemas.microsoft.com/office/drawing/2014/main" id="{8CABA9A3-6DDE-430A-A1B9-C854426FAE87}"/>
              </a:ext>
            </a:extLst>
          </p:cNvPr>
          <p:cNvSpPr>
            <a:spLocks xmlns:a="http://schemas.openxmlformats.org/drawingml/2006/main" noGrp="1"/>
          </p:cNvSpPr>
          <p:nvPr/>
        </p:nvSpPr>
        <p:spPr>
          <a:xfrm xmlns:a="http://schemas.openxmlformats.org/drawingml/2006/main">
            <a:off x="777240" y="4251960"/>
            <a:ext cx="10637215" cy="1280160"/>
          </a:xfrm>
          <a:prstGeom xmlns:a="http://schemas.openxmlformats.org/drawingml/2006/main" prst="roundRect">
            <a:avLst>
              <a:gd name="adj" fmla="val 8571"/>
            </a:avLst>
          </a:prstGeom>
          <a:solidFill xmlns:a="http://schemas.openxmlformats.org/drawingml/2006/main">
            <a:srgbClr val="E9F6F4"/>
          </a:solidFill>
          <a:ln xmlns:a="http://schemas.openxmlformats.org/drawingml/2006/main" w="15875">
            <a:solidFill>
              <a:srgbClr val="0E8C7F"/>
            </a:solidFill>
            <a:prstDash val="solid"/>
          </a:ln>
          <a:effectLst xmlns:a="http://schemas.openxmlformats.org/drawingml/2006/main">
            <a:outerShdw blurRad="127000" dist="38100" dir="5400000" sx="100000" sy="100000" kx="0" ky="0" algn="bl" rotWithShape="0">
              <a:srgbClr val="1B2A44">
                <a:alpha val="10000"/>
              </a:srgbClr>
            </a:outerShdw>
          </a:effectLst>
        </p:spPr>
      </p:sp>
      <p:sp>
        <p:nvSpPr>
          <p:cNvPr id="6" name="Text 4">
            <a:extLst xmlns:a="http://schemas.openxmlformats.org/drawingml/2006/main">
              <a:ext uri="{FF2B5EF4-FFF2-40B4-BE49-F238E27FC236}">
                <a16:creationId xmlns:a16="http://schemas.microsoft.com/office/drawing/2014/main" id="{DEF8900D-D23F-4820-B6F3-9B8CA4691390}"/>
              </a:ext>
            </a:extLst>
          </p:cNvPr>
          <p:cNvSpPr>
            <a:spLocks xmlns:a="http://schemas.openxmlformats.org/drawingml/2006/main" noGrp="1"/>
          </p:cNvSpPr>
          <p:nvPr/>
        </p:nvSpPr>
        <p:spPr>
          <a:xfrm xmlns:a="http://schemas.openxmlformats.org/drawingml/2006/main">
            <a:off x="1188720" y="4251960"/>
            <a:ext cx="9814255"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6233B"/>
                </a:solidFill>
                <a:latin typeface="Calibri"/>
                <a:ea typeface="Calibri"/>
                <a:cs typeface="Calibri"/>
              </a:rPr>
              <a:t>Where does this control plane fit in your customer identity architecture?</a:t>
            </a:r>
          </a:p>
        </p:txBody>
      </p:sp>
      <p:sp>
        <p:nvSpPr>
          <p:cNvPr id="7" name="Text 5">
            <a:extLst xmlns:a="http://schemas.openxmlformats.org/drawingml/2006/main">
              <a:ext uri="{FF2B5EF4-FFF2-40B4-BE49-F238E27FC236}">
                <a16:creationId xmlns:a16="http://schemas.microsoft.com/office/drawing/2014/main" id="{9BB5C161-62CA-4D79-98B7-00927F6F3EB9}"/>
              </a:ext>
            </a:extLst>
          </p:cNvPr>
          <p:cNvSpPr>
            <a:spLocks xmlns:a="http://schemas.openxmlformats.org/drawingml/2006/main" noGrp="1"/>
          </p:cNvSpPr>
          <p:nvPr/>
        </p:nvSpPr>
        <p:spPr>
          <a:xfrm xmlns:a="http://schemas.openxmlformats.org/drawingml/2006/main">
            <a:off x="777240" y="617220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8493A6"/>
                </a:solidFill>
                <a:latin typeface="Calibri"/>
                <a:ea typeface="Calibri"/>
                <a:cs typeface="Calibri"/>
              </a:rPr>
              <a:t>AuthSec  ·  identity for agents and machines</a:t>
            </a:r>
          </a:p>
        </p:txBody>
      </p:sp>
    </p:spTree>
    <p:extLst>
      <p:ext uri="{BB962C8B-B14F-4D97-AF65-F5344CB8AC3E}">
        <p14:creationId xmlns:p14="http://schemas.microsoft.com/office/powerpoint/2010/main" val="198076267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2026-07-21T16:11:41.9100000Z</dcterms:created>
  <dcterms:modified xsi:type="dcterms:W3CDTF">2026-07-21T16:11:41.9100000Z</dcterms:modified>
</coreProperties>
</file>