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short — four slides, then I run it live against a real MCP server. The one idea: an AI agent calling a tool is an access-control event, and almost nobody treats it like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static key or shared bearer handed to the server. No identity on the caller, broad standing access, no per-tool authorization, no attribution, and no revocation short of rotating the key everywhere.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AuthSec sits in front as an authorization control plane. Inbound, every caller authenticates and gets a token scoped to specific tools, bound to that resource, short-lived. Outbound, every tool call is authorized live and instantly revocable. Access becomes a decision, not a shared secret.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tool requires a scope, a role grants scopes, an identity holds a role. Access is: does this identity carry the scope this tool needs — checked live on every call. If not, the tool isn't even offered, and it's fail-closed if forced. Revoke and the next call dies, even on an unexpired token.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static key is opaque. The AuthSec token carries the subject — the human — and the actor — the agent acting for them — plus the audience (this resource only), the scope (these tools only), and a jti that makes it revocable by id, no waiting for expiry. Subject and actor both present: delegation you can verify.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token is issued for 15 minutes. At +2 the admin revokes the role. A call at +3 is denied — though the token is valid on paper for 8 more minutes — because the resource introspects on every call. Authorization is live; it beats token lifetime.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ways to establish an identity — a person, a service with a private key, a workload with no secret via SPIFFE, and an agent acting for a named person with the delegation visible in the token. Different doors, the same scope check on every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person, a machine with a private key, a workload with no secret, an agent acting for a named user — every one subject to the same live scope check, revocable in one click. It's running today. What would it take to put it in front of your agents?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417320"/>
            <a:ext cx="3017520" cy="4023360"/>
          </a:xfrm>
          <a:prstGeom prst="roundRect">
            <a:avLst>
              <a:gd name="adj" fmla="val 9091"/>
            </a:avLst>
          </a:prstGeom>
          <a:solidFill>
            <a:srgbClr val="E9F6F4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51460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77240" y="10515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2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AUTHSEC  ·  AGENTIC IDENTITY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7240" y="2286000"/>
            <a:ext cx="7223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 an agent makes</a:t>
            </a:r>
            <a:endParaRPr lang="en-US" sz="4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4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access decision.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777240" y="4434840"/>
            <a:ext cx="6766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65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almost nobody treats it like one. AuthSec gives every caller a real identity — and checks it on every tool call.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777240" y="6126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authorization for MCP and AI agents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2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agents reach tools today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1508760" cy="105156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4767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User’s app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95144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origin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697480" y="1691640"/>
            <a:ext cx="1920240" cy="105156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97480" y="20574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720840" y="1691640"/>
            <a:ext cx="2286000" cy="105156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720840" y="194767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229514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tools open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418320" y="1691640"/>
            <a:ext cx="1993392" cy="1051560"/>
          </a:xfrm>
          <a:prstGeom prst="roundRect">
            <a:avLst>
              <a:gd name="adj" fmla="val 9565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418320" y="1947672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418320" y="2295144"/>
            <a:ext cx="19933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DB · SaaS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395728" y="2217420"/>
            <a:ext cx="192024" cy="0"/>
          </a:xfrm>
          <a:prstGeom prst="line">
            <a:avLst/>
          </a:prstGeom>
          <a:noFill/>
          <a:ln w="25400">
            <a:solidFill>
              <a:srgbClr val="8493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074920" y="1979676"/>
            <a:ext cx="1234440" cy="475488"/>
          </a:xfrm>
          <a:prstGeom prst="roundRect">
            <a:avLst>
              <a:gd name="adj" fmla="val 50000"/>
            </a:avLst>
          </a:prstGeom>
          <a:solidFill>
            <a:srgbClr val="D64550"/>
          </a:solidFill>
          <a:ln/>
          <a:effectLst>
            <a:outerShdw sx="100000" sy="100000" kx="0" ky="0" algn="bl" rotWithShape="0" blurRad="127000" dist="38100" dir="5400000">
              <a:srgbClr val="1B2A44">
                <a:alpha val="10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9512" y="2080260"/>
            <a:ext cx="274320" cy="27432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5532120" y="207111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key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727448" y="2217420"/>
            <a:ext cx="301752" cy="0"/>
          </a:xfrm>
          <a:prstGeom prst="line">
            <a:avLst/>
          </a:prstGeom>
          <a:noFill/>
          <a:ln w="2540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6355080" y="2217420"/>
            <a:ext cx="256032" cy="0"/>
          </a:xfrm>
          <a:prstGeom prst="line">
            <a:avLst/>
          </a:prstGeom>
          <a:noFill/>
          <a:ln w="2540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116568" y="2217420"/>
            <a:ext cx="192024" cy="0"/>
          </a:xfrm>
          <a:prstGeom prst="line">
            <a:avLst/>
          </a:prstGeom>
          <a:noFill/>
          <a:ln w="25400">
            <a:solidFill>
              <a:srgbClr val="8493A6"/>
            </a:solidFill>
            <a:prstDash val="solid"/>
            <a:tailEnd type="triangle"/>
          </a:ln>
        </p:spPr>
      </p:sp>
      <p:sp>
        <p:nvSpPr>
          <p:cNvPr id="22" name="Text 19"/>
          <p:cNvSpPr/>
          <p:nvPr/>
        </p:nvSpPr>
        <p:spPr>
          <a:xfrm>
            <a:off x="777240" y="2971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sees a secret — not a who.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804672" y="3429000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083" y="3515411"/>
            <a:ext cx="211226" cy="21122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399032" y="3374136"/>
            <a:ext cx="1001542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identity on the caller  —  </a:t>
            </a:r>
            <a:pPr indent="0" marL="0">
              <a:buNone/>
            </a:pPr>
            <a:r>
              <a:rPr lang="en-US" sz="145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presents a key, not a subject you can name.</a:t>
            </a:r>
            <a:endParaRPr lang="en-US" sz="1450" dirty="0"/>
          </a:p>
        </p:txBody>
      </p:sp>
      <p:sp>
        <p:nvSpPr>
          <p:cNvPr id="26" name="Shape 22"/>
          <p:cNvSpPr/>
          <p:nvPr/>
        </p:nvSpPr>
        <p:spPr>
          <a:xfrm>
            <a:off x="804672" y="3995928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083" y="4082339"/>
            <a:ext cx="211226" cy="21122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399032" y="3941064"/>
            <a:ext cx="1001542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Over-scoped, standing access  —  </a:t>
            </a:r>
            <a:pPr indent="0" marL="0">
              <a:buNone/>
            </a:pPr>
            <a:r>
              <a:rPr lang="en-US" sz="145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broad credential unlocks everything, indefinitely.</a:t>
            </a:r>
            <a:endParaRPr lang="en-US" sz="1450" dirty="0"/>
          </a:p>
        </p:txBody>
      </p:sp>
      <p:sp>
        <p:nvSpPr>
          <p:cNvPr id="29" name="Shape 24"/>
          <p:cNvSpPr/>
          <p:nvPr/>
        </p:nvSpPr>
        <p:spPr>
          <a:xfrm>
            <a:off x="804672" y="4562856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083" y="4649267"/>
            <a:ext cx="211226" cy="21122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399032" y="4507992"/>
            <a:ext cx="1001542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per-tool authorization  —  </a:t>
            </a:r>
            <a:pPr indent="0" marL="0">
              <a:buNone/>
            </a:pPr>
            <a:r>
              <a:rPr lang="en-US" sz="145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decides which tools this caller may use.</a:t>
            </a:r>
            <a:endParaRPr lang="en-US" sz="1450" dirty="0"/>
          </a:p>
        </p:txBody>
      </p:sp>
      <p:sp>
        <p:nvSpPr>
          <p:cNvPr id="32" name="Shape 26"/>
          <p:cNvSpPr/>
          <p:nvPr/>
        </p:nvSpPr>
        <p:spPr>
          <a:xfrm>
            <a:off x="804672" y="5129784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1083" y="5216195"/>
            <a:ext cx="211226" cy="211226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399032" y="5074920"/>
            <a:ext cx="1001542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attribution  —  </a:t>
            </a:r>
            <a:pPr indent="0" marL="0">
              <a:buNone/>
            </a:pPr>
            <a:r>
              <a:rPr lang="en-US" sz="145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can’t say who did what, or on whose behalf.</a:t>
            </a:r>
            <a:endParaRPr lang="en-US" sz="1450" dirty="0"/>
          </a:p>
        </p:txBody>
      </p:sp>
      <p:sp>
        <p:nvSpPr>
          <p:cNvPr id="35" name="Shape 28"/>
          <p:cNvSpPr/>
          <p:nvPr/>
        </p:nvSpPr>
        <p:spPr>
          <a:xfrm>
            <a:off x="804672" y="5696712"/>
            <a:ext cx="384048" cy="38404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1083" y="5783123"/>
            <a:ext cx="211226" cy="21122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399032" y="5641848"/>
            <a:ext cx="10015423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revocation  —  </a:t>
            </a:r>
            <a:pPr indent="0" marL="0">
              <a:buNone/>
            </a:pPr>
            <a:r>
              <a:rPr lang="en-US" sz="145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cutting one caller off means rotating keys everywhere.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2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AuthSec — the authorization control plane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1737360" y="1783080"/>
            <a:ext cx="3657600" cy="841248"/>
          </a:xfrm>
          <a:prstGeom prst="roundRect">
            <a:avLst>
              <a:gd name="adj" fmla="val 9783"/>
            </a:avLst>
          </a:prstGeom>
          <a:solidFill>
            <a:srgbClr val="F5F8FB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4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 rot="10800000">
            <a:off x="4219956" y="2606040"/>
            <a:ext cx="201168" cy="155448"/>
          </a:xfrm>
          <a:prstGeom prst="triangle">
            <a:avLst/>
          </a:prstGeom>
          <a:solidFill>
            <a:srgbClr val="F5F8FB"/>
          </a:solidFill>
          <a:ln/>
        </p:spPr>
      </p:sp>
      <p:sp>
        <p:nvSpPr>
          <p:cNvPr id="6" name="Text 4"/>
          <p:cNvSpPr/>
          <p:nvPr/>
        </p:nvSpPr>
        <p:spPr>
          <a:xfrm>
            <a:off x="1920240" y="1783080"/>
            <a:ext cx="32918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Inbound  </a:t>
            </a:r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caller authenticates and gets a scoped identity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46520" y="1783080"/>
            <a:ext cx="4965192" cy="841248"/>
          </a:xfrm>
          <a:prstGeom prst="roundRect">
            <a:avLst>
              <a:gd name="adj" fmla="val 9783"/>
            </a:avLst>
          </a:prstGeom>
          <a:solidFill>
            <a:srgbClr val="F5F8FB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4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 rot="10800000">
            <a:off x="7968996" y="2606040"/>
            <a:ext cx="201168" cy="155448"/>
          </a:xfrm>
          <a:prstGeom prst="triangle">
            <a:avLst/>
          </a:prstGeom>
          <a:solidFill>
            <a:srgbClr val="F5F8FB"/>
          </a:solidFill>
          <a:ln/>
        </p:spPr>
      </p:sp>
      <p:sp>
        <p:nvSpPr>
          <p:cNvPr id="9" name="Text 7"/>
          <p:cNvSpPr/>
          <p:nvPr/>
        </p:nvSpPr>
        <p:spPr>
          <a:xfrm>
            <a:off x="6629400" y="1783080"/>
            <a:ext cx="459943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 </a:t>
            </a:r>
            <a:pPr algn="ctr"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tool call is authorized live, and instantly revocable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77240" y="2880360"/>
            <a:ext cx="1508760" cy="16002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57300" y="3099816"/>
            <a:ext cx="548640" cy="548640"/>
          </a:xfrm>
          <a:prstGeom prst="ellipse">
            <a:avLst/>
          </a:prstGeom>
          <a:solidFill>
            <a:srgbClr val="E9F6F4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4460" y="3236976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77240" y="3721608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Callers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77240" y="402336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service · agent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880360" y="2880360"/>
            <a:ext cx="2880360" cy="1600200"/>
          </a:xfrm>
          <a:prstGeom prst="roundRect">
            <a:avLst>
              <a:gd name="adj" fmla="val 6286"/>
            </a:avLst>
          </a:prstGeom>
          <a:solidFill>
            <a:srgbClr val="0E8C7F"/>
          </a:solidFill>
          <a:ln/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055364" y="3063240"/>
            <a:ext cx="530352" cy="53035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3195828"/>
            <a:ext cx="265176" cy="265176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880360" y="3593592"/>
            <a:ext cx="2880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AuthSec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3044952" y="3959352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0" name="Text 16"/>
          <p:cNvSpPr/>
          <p:nvPr/>
        </p:nvSpPr>
        <p:spPr>
          <a:xfrm>
            <a:off x="3044952" y="39593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identity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4343400" y="3959352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/>
        </p:spPr>
      </p:sp>
      <p:sp>
        <p:nvSpPr>
          <p:cNvPr id="22" name="Text 18"/>
          <p:cNvSpPr/>
          <p:nvPr/>
        </p:nvSpPr>
        <p:spPr>
          <a:xfrm>
            <a:off x="4343400" y="3959352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scoped token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6949440" y="2880360"/>
            <a:ext cx="2240280" cy="16002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804404" y="3063240"/>
            <a:ext cx="530352" cy="530352"/>
          </a:xfrm>
          <a:prstGeom prst="ellipse">
            <a:avLst/>
          </a:prstGeom>
          <a:solidFill>
            <a:srgbClr val="E9F6F4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6992" y="3195828"/>
            <a:ext cx="265176" cy="26517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949440" y="3593592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MCP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7132320" y="3959352"/>
            <a:ext cx="1874520" cy="384048"/>
          </a:xfrm>
          <a:prstGeom prst="roundRect">
            <a:avLst>
              <a:gd name="adj" fmla="val 14286"/>
            </a:avLst>
          </a:prstGeom>
          <a:solidFill>
            <a:srgbClr val="E9F6F4"/>
          </a:solidFill>
          <a:ln/>
        </p:spPr>
      </p:sp>
      <p:sp>
        <p:nvSpPr>
          <p:cNvPr id="28" name="Text 23"/>
          <p:cNvSpPr/>
          <p:nvPr/>
        </p:nvSpPr>
        <p:spPr>
          <a:xfrm>
            <a:off x="7132320" y="3959352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per-tool check · every call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9692640" y="2880360"/>
            <a:ext cx="1719072" cy="1600200"/>
          </a:xfrm>
          <a:prstGeom prst="roundRect">
            <a:avLst>
              <a:gd name="adj" fmla="val 6286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6376" y="3154680"/>
            <a:ext cx="310896" cy="310896"/>
          </a:xfrm>
          <a:prstGeom prst="rect">
            <a:avLst/>
          </a:prstGeom>
        </p:spPr>
      </p:pic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6728" y="3154680"/>
            <a:ext cx="310896" cy="310896"/>
          </a:xfrm>
          <a:prstGeom prst="rect">
            <a:avLst/>
          </a:prstGeom>
        </p:spPr>
      </p:pic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27080" y="3154680"/>
            <a:ext cx="310896" cy="31089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9692640" y="3657600"/>
            <a:ext cx="17190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9692640" y="3959352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· DB · SaaS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2414016" y="3666744"/>
            <a:ext cx="338328" cy="0"/>
          </a:xfrm>
          <a:prstGeom prst="line">
            <a:avLst/>
          </a:prstGeom>
          <a:noFill/>
          <a:ln w="25400">
            <a:solidFill>
              <a:srgbClr val="8493A6"/>
            </a:solidFill>
            <a:prstDash val="solid"/>
            <a:tailEnd type="triangle"/>
          </a:ln>
        </p:spPr>
      </p:sp>
      <p:sp>
        <p:nvSpPr>
          <p:cNvPr id="36" name="Shape 28"/>
          <p:cNvSpPr/>
          <p:nvPr/>
        </p:nvSpPr>
        <p:spPr>
          <a:xfrm>
            <a:off x="5907024" y="3666744"/>
            <a:ext cx="896112" cy="0"/>
          </a:xfrm>
          <a:prstGeom prst="line">
            <a:avLst/>
          </a:prstGeom>
          <a:noFill/>
          <a:ln w="25400">
            <a:solidFill>
              <a:srgbClr val="0E8C7F"/>
            </a:solidFill>
            <a:prstDash val="solid"/>
            <a:tailEnd type="triangle"/>
          </a:ln>
        </p:spPr>
      </p:sp>
      <p:sp>
        <p:nvSpPr>
          <p:cNvPr id="37" name="Text 29"/>
          <p:cNvSpPr/>
          <p:nvPr/>
        </p:nvSpPr>
        <p:spPr>
          <a:xfrm>
            <a:off x="5907024" y="3282696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E8C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scoped token</a:t>
            </a:r>
            <a:endParaRPr lang="en-US" sz="900" dirty="0"/>
          </a:p>
        </p:txBody>
      </p:sp>
      <p:sp>
        <p:nvSpPr>
          <p:cNvPr id="38" name="Shape 30"/>
          <p:cNvSpPr/>
          <p:nvPr/>
        </p:nvSpPr>
        <p:spPr>
          <a:xfrm>
            <a:off x="9317736" y="3666744"/>
            <a:ext cx="246888" cy="0"/>
          </a:xfrm>
          <a:prstGeom prst="line">
            <a:avLst/>
          </a:prstGeom>
          <a:noFill/>
          <a:ln w="25400">
            <a:solidFill>
              <a:srgbClr val="8493A6"/>
            </a:solidFill>
            <a:prstDash val="solid"/>
            <a:tailEnd type="triangle"/>
          </a:ln>
        </p:spPr>
      </p:sp>
      <p:sp>
        <p:nvSpPr>
          <p:cNvPr id="39" name="Text 31"/>
          <p:cNvSpPr/>
          <p:nvPr/>
        </p:nvSpPr>
        <p:spPr>
          <a:xfrm>
            <a:off x="777240" y="502920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2.1 / OIDC · RBAC · native token engine.  </a:t>
            </a:r>
            <a:pPr indent="0" marL="0">
              <a:buNone/>
            </a:pPr>
            <a:r>
              <a:rPr lang="en-US" sz="140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sees a subject and a scope — never a shared secret.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2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rule, checked on every call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393192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05840" y="200253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tool requires a scope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233172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list_commits → commits:read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77240" y="2880360"/>
            <a:ext cx="393192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300837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role grants scopes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333756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Reader → commits:read, repo:read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777240" y="3886200"/>
            <a:ext cx="3931920" cy="841248"/>
          </a:xfrm>
          <a:prstGeom prst="roundRect">
            <a:avLst>
              <a:gd name="adj" fmla="val 11957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05840" y="40142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identity holds a role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4343400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A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agent → Reader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257800" y="2651760"/>
            <a:ext cx="2788920" cy="1417320"/>
          </a:xfrm>
          <a:prstGeom prst="roundRect">
            <a:avLst>
              <a:gd name="adj" fmla="val 7097"/>
            </a:avLst>
          </a:prstGeom>
          <a:solidFill>
            <a:srgbClr val="0E8C7F"/>
          </a:solidFill>
          <a:ln/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96228" y="2816352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24244" y="2944368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257800" y="332841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AuthSec verifier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532120" y="3639312"/>
            <a:ext cx="224028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532120" y="3639312"/>
            <a:ext cx="2240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introspection · every call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818888" y="2295144"/>
            <a:ext cx="384048" cy="1065276"/>
          </a:xfrm>
          <a:prstGeom prst="line">
            <a:avLst/>
          </a:prstGeom>
          <a:noFill/>
          <a:ln w="25400">
            <a:solidFill>
              <a:srgbClr val="8493A6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4818888" y="3300984"/>
            <a:ext cx="384048" cy="59436"/>
          </a:xfrm>
          <a:prstGeom prst="line">
            <a:avLst/>
          </a:prstGeom>
          <a:noFill/>
          <a:ln w="25400">
            <a:solidFill>
              <a:srgbClr val="8493A6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4818888" y="4306824"/>
            <a:ext cx="384048" cy="-946404"/>
          </a:xfrm>
          <a:prstGeom prst="line">
            <a:avLst/>
          </a:prstGeom>
          <a:noFill/>
          <a:ln w="25400">
            <a:solidFill>
              <a:srgbClr val="8493A6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8732520" y="2331720"/>
            <a:ext cx="267919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16A34A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4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8951976" y="2532888"/>
            <a:ext cx="420624" cy="420624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4513" y="2625425"/>
            <a:ext cx="235549" cy="235549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509760" y="233172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runs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8101584" y="3360420"/>
            <a:ext cx="576072" cy="-617220"/>
          </a:xfrm>
          <a:prstGeom prst="line">
            <a:avLst/>
          </a:prstGeom>
          <a:noFill/>
          <a:ln w="25400">
            <a:solidFill>
              <a:srgbClr val="16A34A"/>
            </a:solidFill>
            <a:prstDash val="solid"/>
            <a:tailEnd type="triangle"/>
          </a:ln>
        </p:spPr>
      </p:sp>
      <p:sp>
        <p:nvSpPr>
          <p:cNvPr id="27" name="Shape 23"/>
          <p:cNvSpPr/>
          <p:nvPr/>
        </p:nvSpPr>
        <p:spPr>
          <a:xfrm>
            <a:off x="8732520" y="3749040"/>
            <a:ext cx="2679192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D6455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4">
                <a:alpha val="10000"/>
              </a:srgbClr>
            </a:outerShdw>
          </a:effectLst>
        </p:spPr>
      </p:sp>
      <p:sp>
        <p:nvSpPr>
          <p:cNvPr id="28" name="Shape 24"/>
          <p:cNvSpPr/>
          <p:nvPr/>
        </p:nvSpPr>
        <p:spPr>
          <a:xfrm>
            <a:off x="8951976" y="3950208"/>
            <a:ext cx="420624" cy="420624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4513" y="4042745"/>
            <a:ext cx="235549" cy="235549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509760" y="3749040"/>
            <a:ext cx="1810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denied — mid-token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8101584" y="3360420"/>
            <a:ext cx="576072" cy="800100"/>
          </a:xfrm>
          <a:prstGeom prst="line">
            <a:avLst/>
          </a:prstGeom>
          <a:noFill/>
          <a:ln w="25400">
            <a:solidFill>
              <a:srgbClr val="D64550"/>
            </a:solidFill>
            <a:prstDash val="solid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777240" y="5166360"/>
            <a:ext cx="10637215" cy="1005840"/>
          </a:xfrm>
          <a:prstGeom prst="roundRect">
            <a:avLst>
              <a:gd name="adj" fmla="val 9091"/>
            </a:avLst>
          </a:prstGeom>
          <a:solidFill>
            <a:srgbClr val="E9F6F4"/>
          </a:solidFill>
          <a:ln/>
        </p:spPr>
      </p:sp>
      <p:sp>
        <p:nvSpPr>
          <p:cNvPr id="33" name="Text 28"/>
          <p:cNvSpPr/>
          <p:nvPr/>
        </p:nvSpPr>
        <p:spPr>
          <a:xfrm>
            <a:off x="1097280" y="5166360"/>
            <a:ext cx="99971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0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the identity carries the scope the tool needs — re-checked on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call. Miss the scope and the tool isn’t even offered; revoke, and the next request dies on a token that hasn’t expired.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2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PROOF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server actually receives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777240" y="1481328"/>
            <a:ext cx="106372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static key says nothing.  </a:t>
            </a:r>
            <a:pPr indent="0" marL="0">
              <a:buNone/>
            </a:pPr>
            <a:r>
              <a:rPr lang="en-US" sz="1400" b="1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AuthSec token says who, for whom, where, and for how long.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77240" y="2057400"/>
            <a:ext cx="6172200" cy="3657600"/>
          </a:xfrm>
          <a:prstGeom prst="roundRect">
            <a:avLst>
              <a:gd name="adj" fmla="val 2500"/>
            </a:avLst>
          </a:prstGeom>
          <a:solidFill>
            <a:srgbClr val="0E1A2C"/>
          </a:solidFill>
          <a:ln/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88136" y="2331720"/>
            <a:ext cx="128016" cy="128016"/>
          </a:xfrm>
          <a:prstGeom prst="ellipse">
            <a:avLst/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325880" y="2331720"/>
            <a:ext cx="128016" cy="128016"/>
          </a:xfrm>
          <a:prstGeom prst="ellipse">
            <a:avLst/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563624" y="2331720"/>
            <a:ext cx="128016" cy="128016"/>
          </a:xfrm>
          <a:prstGeom prst="ellipse">
            <a:avLst/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2057400" y="2240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6E7F9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access_token · decoded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60120" y="3017520"/>
            <a:ext cx="5806440" cy="320040"/>
          </a:xfrm>
          <a:prstGeom prst="roundRect">
            <a:avLst>
              <a:gd name="adj" fmla="val 8571"/>
            </a:avLst>
          </a:prstGeom>
          <a:solidFill>
            <a:srgbClr val="12303C"/>
          </a:solidFill>
          <a:ln/>
        </p:spPr>
      </p:sp>
      <p:sp>
        <p:nvSpPr>
          <p:cNvPr id="11" name="Shape 9"/>
          <p:cNvSpPr/>
          <p:nvPr/>
        </p:nvSpPr>
        <p:spPr>
          <a:xfrm>
            <a:off x="960120" y="3337560"/>
            <a:ext cx="5806440" cy="320040"/>
          </a:xfrm>
          <a:prstGeom prst="roundRect">
            <a:avLst>
              <a:gd name="adj" fmla="val 8571"/>
            </a:avLst>
          </a:prstGeom>
          <a:solidFill>
            <a:srgbClr val="12303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271576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97280" y="303580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D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"sub"</a:t>
            </a:r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</a:t>
            </a:r>
            <a:pPr indent="0" marL="0">
              <a:buNone/>
            </a:pPr>
            <a:r>
              <a:rPr lang="en-US" sz="1250" dirty="0">
                <a:solidFill>
                  <a:srgbClr val="CA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"u_9a3f… (Alice)"</a:t>
            </a:r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097280" y="335584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D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"act"</a:t>
            </a:r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{ </a:t>
            </a:r>
            <a:pPr indent="0" marL="0">
              <a:buNone/>
            </a:pPr>
            <a:r>
              <a:rPr lang="en-US" sz="1250" dirty="0">
                <a:solidFill>
                  <a:srgbClr val="45D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"client_id"</a:t>
            </a:r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50" dirty="0">
                <a:solidFill>
                  <a:srgbClr val="CA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"repo-assistant"</a:t>
            </a:r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},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97280" y="367588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D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"tf"</a:t>
            </a:r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 </a:t>
            </a:r>
            <a:pPr indent="0" marL="0">
              <a:buNone/>
            </a:pPr>
            <a:r>
              <a:rPr lang="en-US" sz="1250" dirty="0">
                <a:solidFill>
                  <a:srgbClr val="CA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"xaa"</a:t>
            </a:r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97280" y="399592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D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"aud"</a:t>
            </a:r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</a:t>
            </a:r>
            <a:pPr indent="0" marL="0">
              <a:buNone/>
            </a:pPr>
            <a:r>
              <a:rPr lang="en-US" sz="1250" dirty="0">
                <a:solidFill>
                  <a:srgbClr val="CA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"…mcpauthz.com/mcp"</a:t>
            </a:r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097280" y="431596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D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"scope"</a:t>
            </a:r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50" dirty="0">
                <a:solidFill>
                  <a:srgbClr val="CA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"commits:read repo:read"</a:t>
            </a:r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97280" y="463600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D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"jti"</a:t>
            </a:r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</a:t>
            </a:r>
            <a:pPr indent="0" marL="0">
              <a:buNone/>
            </a:pPr>
            <a:r>
              <a:rPr lang="en-US" sz="1250" dirty="0">
                <a:solidFill>
                  <a:srgbClr val="CA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"tok_b7c9e2…"</a:t>
            </a:r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1097280" y="495604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D9C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"exp"</a:t>
            </a:r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  </a:t>
            </a:r>
            <a:pPr indent="0" marL="0">
              <a:buNone/>
            </a:pPr>
            <a:r>
              <a:rPr lang="en-US" sz="1250" dirty="0">
                <a:solidFill>
                  <a:srgbClr val="CA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1721584920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97280" y="5276088"/>
            <a:ext cx="5623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598A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269480" y="219456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9F6F4"/>
          </a:solidFill>
          <a:ln/>
        </p:spPr>
      </p:sp>
      <p:sp>
        <p:nvSpPr>
          <p:cNvPr id="22" name="Text 20"/>
          <p:cNvSpPr/>
          <p:nvPr/>
        </p:nvSpPr>
        <p:spPr>
          <a:xfrm>
            <a:off x="7269480" y="2194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05088" y="2176272"/>
            <a:ext cx="27093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human on whose behalf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269480" y="2747772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9F6F4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274777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705088" y="2729484"/>
            <a:ext cx="27093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actually calling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7269480" y="3300984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9F6F4"/>
          </a:solidFill>
          <a:ln/>
        </p:spPr>
      </p:sp>
      <p:sp>
        <p:nvSpPr>
          <p:cNvPr id="28" name="Text 26"/>
          <p:cNvSpPr/>
          <p:nvPr/>
        </p:nvSpPr>
        <p:spPr>
          <a:xfrm>
            <a:off x="7269480" y="330098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tf: xaa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705088" y="3282696"/>
            <a:ext cx="27093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cross-app delegation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269480" y="3854196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9F6F4"/>
          </a:solidFill>
          <a:ln/>
        </p:spPr>
      </p:sp>
      <p:sp>
        <p:nvSpPr>
          <p:cNvPr id="31" name="Text 29"/>
          <p:cNvSpPr/>
          <p:nvPr/>
        </p:nvSpPr>
        <p:spPr>
          <a:xfrm>
            <a:off x="7269480" y="385419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705088" y="3835908"/>
            <a:ext cx="27093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locked to this one resource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7269480" y="4407408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9F6F4"/>
          </a:solidFill>
          <a:ln/>
        </p:spPr>
      </p:sp>
      <p:sp>
        <p:nvSpPr>
          <p:cNvPr id="34" name="Text 32"/>
          <p:cNvSpPr/>
          <p:nvPr/>
        </p:nvSpPr>
        <p:spPr>
          <a:xfrm>
            <a:off x="7269480" y="440740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scope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8705088" y="4389120"/>
            <a:ext cx="27093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these tools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7269480" y="49606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9F6F4"/>
          </a:solidFill>
          <a:ln/>
        </p:spPr>
      </p:sp>
      <p:sp>
        <p:nvSpPr>
          <p:cNvPr id="37" name="Text 35"/>
          <p:cNvSpPr/>
          <p:nvPr/>
        </p:nvSpPr>
        <p:spPr>
          <a:xfrm>
            <a:off x="7269480" y="49606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jti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05088" y="4942332"/>
            <a:ext cx="270936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revocable instantly — by id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2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Revocation beats token lifetime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1188720" y="27066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issued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9535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+0 min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8805672" y="27066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805672" y="2953512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493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+15 min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234440" y="3291840"/>
            <a:ext cx="9720072" cy="457200"/>
          </a:xfrm>
          <a:prstGeom prst="roundRect">
            <a:avLst>
              <a:gd name="adj" fmla="val 20000"/>
            </a:avLst>
          </a:prstGeom>
          <a:solidFill>
            <a:srgbClr val="0E8C7F"/>
          </a:solidFill>
          <a:ln/>
          <a:effectLst>
            <a:outerShdw sx="100000" sy="100000" kx="0" ky="0" algn="bl" rotWithShape="0" blurRad="127000" dist="38100" dir="5400000">
              <a:srgbClr val="1B2A44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3410712"/>
            <a:ext cx="97200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 · 15 minutes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50462" y="2560320"/>
            <a:ext cx="0" cy="2084832"/>
          </a:xfrm>
          <a:prstGeom prst="line">
            <a:avLst/>
          </a:prstGeom>
          <a:noFill/>
          <a:ln w="25400">
            <a:solidFill>
              <a:srgbClr val="D64550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2687422" y="2029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revokes the role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2687422" y="22768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645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+2 min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498049" y="3749040"/>
            <a:ext cx="0" cy="45720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69449" y="4069080"/>
            <a:ext cx="457200" cy="457200"/>
          </a:xfrm>
          <a:prstGeom prst="ellipse">
            <a:avLst/>
          </a:prstGeom>
          <a:solidFill>
            <a:srgbClr val="16A34A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70033" y="4169664"/>
            <a:ext cx="256032" cy="25603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17889" y="4645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→ allowed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094476" y="3749040"/>
            <a:ext cx="0" cy="457200"/>
          </a:xfrm>
          <a:prstGeom prst="line">
            <a:avLst/>
          </a:prstGeom>
          <a:noFill/>
          <a:ln w="19050">
            <a:solidFill>
              <a:srgbClr val="D6455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65876" y="4069080"/>
            <a:ext cx="457200" cy="457200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460" y="4169664"/>
            <a:ext cx="256032" cy="25603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814316" y="46451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D645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call → DENIED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777240" y="5440680"/>
            <a:ext cx="10637215" cy="868680"/>
          </a:xfrm>
          <a:prstGeom prst="roundRect">
            <a:avLst>
              <a:gd name="adj" fmla="val 10526"/>
            </a:avLst>
          </a:prstGeom>
          <a:solidFill>
            <a:srgbClr val="E9F6F4"/>
          </a:solidFill>
          <a:ln/>
        </p:spPr>
      </p:sp>
      <p:sp>
        <p:nvSpPr>
          <p:cNvPr id="22" name="Text 18"/>
          <p:cNvSpPr/>
          <p:nvPr/>
        </p:nvSpPr>
        <p:spPr>
          <a:xfrm>
            <a:off x="1143000" y="5440680"/>
            <a:ext cx="99056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 hasn’t expired — it’s valid for 8 more minutes. 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denied anyway, because the resource re-checks authorization on every call. Access is live, not a lease.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5029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2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ENFORCEMENT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777240" y="841248"/>
            <a:ext cx="1063721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ways to prove identity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777240" y="1874520"/>
            <a:ext cx="51206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06424" y="2345436"/>
            <a:ext cx="841248" cy="841248"/>
          </a:xfrm>
          <a:prstGeom prst="ellipse">
            <a:avLst/>
          </a:prstGeom>
          <a:solidFill>
            <a:srgbClr val="E9F6F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148" y="2564160"/>
            <a:ext cx="403799" cy="40379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48840" y="21671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2148840" y="256946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in through their own tool — a browser login from a client like Claude Code.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148840" y="3227832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E9F6F4"/>
          </a:solidFill>
          <a:ln/>
        </p:spPr>
      </p:sp>
      <p:sp>
        <p:nvSpPr>
          <p:cNvPr id="10" name="Text 7"/>
          <p:cNvSpPr/>
          <p:nvPr/>
        </p:nvSpPr>
        <p:spPr>
          <a:xfrm>
            <a:off x="2148840" y="32278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OIDC login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291072" y="1874520"/>
            <a:ext cx="51206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620256" y="2345436"/>
            <a:ext cx="841248" cy="841248"/>
          </a:xfrm>
          <a:prstGeom prst="ellipse">
            <a:avLst/>
          </a:prstGeom>
          <a:solidFill>
            <a:srgbClr val="E9F6F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8980" y="2564160"/>
            <a:ext cx="403799" cy="40379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62672" y="216712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7662672" y="2569464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Authenticates with a private key it holds — no shared secret to copy or leak.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662672" y="3227832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E9F6F4"/>
          </a:solidFill>
          <a:ln/>
        </p:spPr>
      </p:sp>
      <p:sp>
        <p:nvSpPr>
          <p:cNvPr id="17" name="Text 13"/>
          <p:cNvSpPr/>
          <p:nvPr/>
        </p:nvSpPr>
        <p:spPr>
          <a:xfrm>
            <a:off x="7662672" y="32278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private-key JWT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777240" y="3968496"/>
            <a:ext cx="51206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1106424" y="4439412"/>
            <a:ext cx="841248" cy="841248"/>
          </a:xfrm>
          <a:prstGeom prst="ellipse">
            <a:avLst/>
          </a:prstGeom>
          <a:solidFill>
            <a:srgbClr val="E9F6F4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148" y="4658136"/>
            <a:ext cx="403799" cy="403799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148840" y="426110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2148840" y="46634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no secret at all — a short-lived, attested machine identity.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2148840" y="532180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E9F6F4"/>
          </a:solidFill>
          <a:ln/>
        </p:spPr>
      </p:sp>
      <p:sp>
        <p:nvSpPr>
          <p:cNvPr id="24" name="Text 19"/>
          <p:cNvSpPr/>
          <p:nvPr/>
        </p:nvSpPr>
        <p:spPr>
          <a:xfrm>
            <a:off x="2148840" y="532180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SPIFFE / JWT-SVID</a:t>
            </a:r>
            <a:endParaRPr lang="en-US" sz="950" dirty="0"/>
          </a:p>
        </p:txBody>
      </p:sp>
      <p:sp>
        <p:nvSpPr>
          <p:cNvPr id="25" name="Shape 20"/>
          <p:cNvSpPr/>
          <p:nvPr/>
        </p:nvSpPr>
        <p:spPr>
          <a:xfrm>
            <a:off x="6291072" y="3968496"/>
            <a:ext cx="5120640" cy="1783080"/>
          </a:xfrm>
          <a:prstGeom prst="roundRect">
            <a:avLst>
              <a:gd name="adj" fmla="val 5641"/>
            </a:avLst>
          </a:prstGeom>
          <a:solidFill>
            <a:srgbClr val="FFFFFF"/>
          </a:solidFill>
          <a:ln w="12700">
            <a:solidFill>
              <a:srgbClr val="E6EBF2"/>
            </a:solidFill>
            <a:prstDash val="solid"/>
          </a:ln>
          <a:effectLst>
            <a:outerShdw sx="100000" sy="100000" kx="0" ky="0" algn="bl" rotWithShape="0" blurRad="215900" dist="63500" dir="5400000">
              <a:srgbClr val="1B2A44">
                <a:alpha val="11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620256" y="4439412"/>
            <a:ext cx="841248" cy="841248"/>
          </a:xfrm>
          <a:prstGeom prst="ellipse">
            <a:avLst/>
          </a:prstGeom>
          <a:solidFill>
            <a:srgbClr val="E9F6F4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8980" y="4658136"/>
            <a:ext cx="403799" cy="40379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662672" y="4261104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Delegated agent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662672" y="4663440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for a named person — the delegation is visible in the token itself.</a:t>
            </a:r>
            <a:endParaRPr lang="en-US" sz="1200" dirty="0"/>
          </a:p>
        </p:txBody>
      </p:sp>
      <p:sp>
        <p:nvSpPr>
          <p:cNvPr id="30" name="Shape 24"/>
          <p:cNvSpPr/>
          <p:nvPr/>
        </p:nvSpPr>
        <p:spPr>
          <a:xfrm>
            <a:off x="7662672" y="5321808"/>
            <a:ext cx="1965960" cy="310896"/>
          </a:xfrm>
          <a:prstGeom prst="roundRect">
            <a:avLst>
              <a:gd name="adj" fmla="val 14706"/>
            </a:avLst>
          </a:prstGeom>
          <a:solidFill>
            <a:srgbClr val="E9F6F4"/>
          </a:solidFill>
          <a:ln/>
        </p:spPr>
      </p:sp>
      <p:sp>
        <p:nvSpPr>
          <p:cNvPr id="31" name="Text 25"/>
          <p:cNvSpPr/>
          <p:nvPr/>
        </p:nvSpPr>
        <p:spPr>
          <a:xfrm>
            <a:off x="7662672" y="5321808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A6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 behalf of user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777240" y="5989320"/>
            <a:ext cx="106372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doors.  </a:t>
            </a:r>
            <a:pPr indent="0" marL="0">
              <a:buNone/>
            </a:pPr>
            <a:r>
              <a:rPr lang="en-US" sz="1650" b="1" dirty="0">
                <a:solidFill>
                  <a:srgbClr val="0A6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per-tool scope check on every one.</a:t>
            </a:r>
            <a:endParaRPr lang="en-US" sz="16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4630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20" kern="0" dirty="0">
                <a:solidFill>
                  <a:srgbClr val="0E8C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LIVE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77240" y="1938528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me show you the tokens.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77240" y="32918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 · a service · a workload · a delegated agent</a:t>
            </a:r>
            <a:pPr indent="0" marL="0">
              <a:lnSpc>
                <a:spcPct val="120000"/>
              </a:lnSpc>
              <a:buNone/>
            </a:pPr>
            <a:r>
              <a:rPr lang="en-US" sz="1650" dirty="0">
                <a:solidFill>
                  <a:srgbClr val="455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then I revoke, live, and the next call dies.</a:t>
            </a:r>
            <a:endParaRPr lang="en-US" sz="1650" dirty="0"/>
          </a:p>
        </p:txBody>
      </p:sp>
      <p:sp>
        <p:nvSpPr>
          <p:cNvPr id="5" name="Shape 3"/>
          <p:cNvSpPr/>
          <p:nvPr/>
        </p:nvSpPr>
        <p:spPr>
          <a:xfrm>
            <a:off x="777240" y="4251960"/>
            <a:ext cx="10637215" cy="1280160"/>
          </a:xfrm>
          <a:prstGeom prst="roundRect">
            <a:avLst>
              <a:gd name="adj" fmla="val 8571"/>
            </a:avLst>
          </a:prstGeom>
          <a:solidFill>
            <a:srgbClr val="E9F6F4"/>
          </a:solidFill>
          <a:ln w="15875">
            <a:solidFill>
              <a:srgbClr val="0E8C7F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4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188720" y="4251960"/>
            <a:ext cx="981425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6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running today. What would it take to put it in front of your agents?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77240" y="6172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4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AuthSec  ·  agentic identity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AuthSec</dc:creator>
  <cp:lastModifiedBy>AuthSec</cp:lastModifiedBy>
  <cp:revision>1</cp:revision>
  <dcterms:created xsi:type="dcterms:W3CDTF">2026-07-21T15:18:13Z</dcterms:created>
  <dcterms:modified xsi:type="dcterms:W3CDTF">2026-07-21T15:18:13Z</dcterms:modified>
</cp:coreProperties>
</file>